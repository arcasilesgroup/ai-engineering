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sprint review for the period February 16 through March 16, 2026.</a:t>
            </a:r>
          </a:p>
          <a:p/>
          <a:p>
            <a:r>
              <a:t>This has been an exceptionally productive sprint — 76 commits across 19 active days, touching over 1,100 files with 118,000 lines of new code.</a:t>
            </a:r>
          </a:p>
          <a:p/>
          <a:p>
            <a:r>
              <a:t>We delivered across architecture, observability, security, testing, and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give you a high-level overview.</a:t>
            </a:r>
          </a:p>
          <a:p/>
          <a:p>
            <a:r>
              <a:t>76 commits by the engineering team across 19 working days. Over 118,000 lines of code were added across 1,143 files. We completed or advanced 20+ specifications. Test coverage rose to 91%, well above our 80% target.</a:t>
            </a:r>
          </a:p>
          <a:p/>
          <a:p>
            <a:r>
              <a:t>The work spanned 6 major themes which we'll cover in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biggest delivery this sprint is Architecture v3 — spec 051.</a:t>
            </a:r>
          </a:p>
          <a:p/>
          <a:p>
            <a:r>
              <a:t>This is a clean-sheet redesign of our governance surface. We went from 7 agents to 10, adding guard for proactive governance, guide for developer onboarding, and operate for SRE tasks.</a:t>
            </a:r>
          </a:p>
          <a:p/>
          <a:p>
            <a:r>
              <a:t>Skills expanded from 35 (5 were stubs) to 40, all fully functional. 12 skills were renamed for self-documenting names — build became code, cicd became pipeline, db became schema.</a:t>
            </a:r>
          </a:p>
          <a:p/>
          <a:p>
            <a:r>
              <a:t>The self-improvement loop via the evolve skill analyzes audit-log data and proposes framework improvements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053 addresses a critical behavioral gap.</a:t>
            </a:r>
          </a:p>
          <a:p/>
          <a:p>
            <a:r>
              <a:t>Previously, IDE integrations used thin wrappers that referenced agents and skills in .ai-engineering — but most IDEs don't execute these references, so behaviors like the Interrogation Phase never ran.</a:t>
            </a:r>
          </a:p>
          <a:p/>
          <a:p>
            <a:r>
              <a:t>The solution: full IDE-adapted copies in .claude, .github, and .agents directories. 9 migration phases, completed through Phase 9.</a:t>
            </a:r>
          </a:p>
          <a:p/>
          <a:p>
            <a:r>
              <a:t>Canonical source remains in src/ai_engineering/templates.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Observability matured significantly this sprint.</a:t>
            </a:r>
          </a:p>
          <a:p/>
          <a:p>
            <a:r>
              <a:t>We now have 5 dashboard modes: engineer, team, AI, DORA, and health. Each surfaces different metrics — from code quality to deployment frequency.</a:t>
            </a:r>
          </a:p>
          <a:p/>
          <a:p>
            <a:r>
              <a:t>Cross-IDE telemetry via signals emit tracks skill invocations and agent dispatches. Rich formatting with progress bars, score badges, and color-coded metrics.</a:t>
            </a:r>
          </a:p>
          <a:p/>
          <a:p>
            <a:r>
              <a:t>Dual-output: human-readable Rich tables or JSON for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hardening was driven by SonarCloud Quality Gate findings.</a:t>
            </a:r>
          </a:p>
          <a:p/>
          <a:p>
            <a:r>
              <a:t>We fixed 5 vulnerabilities — 4 BLOCKER path traversal and 1 MAJOR command injection. All fixed by refactoring the code, not by suppressing findings.</a:t>
            </a:r>
          </a:p>
          <a:p/>
          <a:p>
            <a:r>
              <a:t>We added a no-suppression governance rule: no NOSONAR, nosec, noqa, or similar comments are allowed. Fix the root cause or escalate.</a:t>
            </a:r>
          </a:p>
          <a:p/>
          <a:p>
            <a:r>
              <a:t>Snyk integration provides continuous dependency vulnerability monitoring. Our 4-stage gate pipeline — pre-commit, commit-msg, pre-push, and CI — ensures zero ungated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excellence through spec 052.</a:t>
            </a:r>
          </a:p>
          <a:p/>
          <a:p>
            <a:r>
              <a:t>The TDD protocol separates RED and GREEN phases — tests are written first and are immutable during implementation. The iron law: never weaken tests.</a:t>
            </a:r>
          </a:p>
          <a:p/>
          <a:p>
            <a:r>
              <a:t>The Interrogation Phase challenges assumptions before planning — mapping KNOWN, ASSUMED, and UNKNOWN.</a:t>
            </a:r>
          </a:p>
          <a:p/>
          <a:p>
            <a:r>
              <a:t>Coverage is at 91%. We support 20 stacks with consistent patterns: fakes over mocks, AAA pattern, dynamic counts.</a:t>
            </a:r>
          </a:p>
          <a:p/>
          <a:p>
            <a:r>
              <a:t>The test rewriting initiative moved from 63 individual patches per test to 1 comprehensive fixture — much more maintainable.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CI/CD improvements focused on reliability and trust.</a:t>
            </a:r>
          </a:p>
          <a:p/>
          <a:p>
            <a:r>
              <a:t>Zero-rebuild release model: the release job now downloads the CI-validated artifact instead of rebuilding. What CI tests is exactly what ships.</a:t>
            </a:r>
          </a:p>
          <a:p/>
          <a:p>
            <a:r>
              <a:t>Dependabot PRs are now grouped and exempted from gate trailer checks to reduce noise while maintaining security.</a:t>
            </a:r>
          </a:p>
          <a:p/>
          <a:p>
            <a:r>
              <a:t>The CI matrix covers Linux, macOS, and Windows with Python 3.11+.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metrics at a glance.</a:t>
            </a:r>
          </a:p>
          <a:p/>
          <a:p>
            <a:r>
              <a:t>Coverage at 91% — target is 80%, so we're well above.</a:t>
            </a:r>
          </a:p>
          <a:p>
            <a:r>
              <a:t>Cyclomatic complexity capped at 10 per function, enforced by ruff.</a:t>
            </a:r>
          </a:p>
          <a:p>
            <a:r>
              <a:t>Cognitive complexity capped at 15.</a:t>
            </a:r>
          </a:p>
          <a:p>
            <a:r>
              <a:t>Gate pass rate is 100% — every commit passes all gates.</a:t>
            </a:r>
          </a:p>
          <a:p>
            <a:r>
              <a:t>Token efficiency at 99.19% — nearly all tokens are deferred, not preloaded.</a:t>
            </a:r>
          </a:p>
          <a:p/>
          <a:p>
            <a:r>
              <a:t>These aren't aspirational — they're enforced by our gate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governance surface now stands at 10 agents, 40 skills, and 50+ standards.</a:t>
            </a:r>
          </a:p>
          <a:p/>
          <a:p>
            <a:r>
              <a:t>We've delivered 38 specifications total since inception. The framework supports 4 IDEs: Claude Code, GitHub Copilot, Gemini CLI, and Codex.</a:t>
            </a:r>
          </a:p>
          <a:p/>
          <a:p>
            <a:r>
              <a:t>Decision store has 17 recorded decisions with SHA-256 context hashing. Audit log tracks 185+ events for full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active risks to watch.</a:t>
            </a:r>
          </a:p>
          <a:p/>
          <a:p>
            <a:r>
              <a:t>The ty type checker shows 84 diagnostics — these are non-blocking tech debt but should be addressed systematically.</a:t>
            </a:r>
          </a:p>
          <a:p/>
          <a:p>
            <a:r>
              <a:t>Cross-OS CI is stabilizing — Windows and macOS need further hardening.</a:t>
            </a:r>
          </a:p>
          <a:p/>
          <a:p>
            <a:r>
              <a:t>Next sprint priorities: complete spec-053 migration, release readiness with docs site (Nextra), PyPI stable release, and multi-IDE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time. Open for questions.</a:t>
            </a:r>
          </a:p>
          <a:p/>
          <a:p>
            <a:r>
              <a:t>Key takeaway: the framework evolved from content-only governance to a production-grade platform with measurable quality improvements across every dimension — security, testing, observability,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JetBrains Mono"/>
              </a:rPr>
              <a:t>Sprint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06040"/>
            <a:ext cx="999713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D4AA"/>
                </a:solidFill>
                <a:latin typeface="JetBrains Mono"/>
              </a:rPr>
              <a:t>ai-engineering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329184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971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E8F0"/>
                </a:solidFill>
                <a:latin typeface="Inter"/>
              </a:rPr>
              <a:t>February 16 — March 16,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67" y="4572000"/>
            <a:ext cx="1828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6767" y="457200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76 Commits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29887" y="4572000"/>
            <a:ext cx="1828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9887" y="457200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20+ Specs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572000"/>
            <a:ext cx="1828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457200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118K+ LOC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6127" y="4572000"/>
            <a:ext cx="1828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127" y="457200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91%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Sprint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Feb 16 – Mar 16, 2026  ·  19 active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5247" y="2011680"/>
            <a:ext cx="21945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247" y="2148840"/>
            <a:ext cx="2194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274320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Commits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64127" y="2011680"/>
            <a:ext cx="21945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4127" y="2148840"/>
            <a:ext cx="2194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118K+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4127" y="274320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Lines Added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011680"/>
            <a:ext cx="21945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2148840"/>
            <a:ext cx="2194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74320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Specs Delivered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1887" y="2011680"/>
            <a:ext cx="21945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1887" y="2148840"/>
            <a:ext cx="2194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1887" y="274320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Test 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3807" y="3840480"/>
            <a:ext cx="3108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3807" y="3840480"/>
            <a:ext cx="73152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6687" y="391363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Architecture 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6687" y="418795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Spec 051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1367" y="3840480"/>
            <a:ext cx="3108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41367" y="3840480"/>
            <a:ext cx="73152" cy="640080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4247" y="391363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IDE-Adapted Mirrors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247" y="418795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Spec 053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78927" y="3840480"/>
            <a:ext cx="3108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78927" y="3840480"/>
            <a:ext cx="73152" cy="640080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1807" y="391363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1807" y="418795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Specs 042-045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3807" y="4663440"/>
            <a:ext cx="3108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3807" y="4663440"/>
            <a:ext cx="73152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6687" y="473659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Security Hardening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6687" y="501091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Spec 049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41367" y="4663440"/>
            <a:ext cx="3108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41367" y="466344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24247" y="473659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Testing Excellence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4247" y="501091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Spec 052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78927" y="4663440"/>
            <a:ext cx="3108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78927" y="466344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1807" y="473659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CI/CD &amp; Release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1807" y="501091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Spec 046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Architecture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Spec 051 — Clean-sheet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087" y="1828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4A3B8"/>
                </a:solidFill>
                <a:latin typeface="JetBrains Mono"/>
              </a:rP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8087" y="22860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247" y="2331720"/>
            <a:ext cx="4297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  7 agents (flat, some missing)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8087" y="27432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5247" y="2788920"/>
            <a:ext cx="4297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  35 skills (5 were stubs)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8087" y="32004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5247" y="3246120"/>
            <a:ext cx="4297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  No proactive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8087" y="36576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5247" y="3703320"/>
            <a:ext cx="4297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  No developer onboarding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8087" y="41148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5247" y="4160520"/>
            <a:ext cx="4297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  No SRE/ops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8087" y="45720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5247" y="4617720"/>
            <a:ext cx="4297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  Manual self-improvement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5821527" y="3200400"/>
            <a:ext cx="548640" cy="457200"/>
          </a:xfrm>
          <a:prstGeom prst="upArrowCallou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1828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D4AA"/>
                </a:solidFill>
                <a:latin typeface="JetBrains Mono"/>
              </a:rPr>
              <a:t>AFTER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1607" y="22860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61607" y="2286000"/>
            <a:ext cx="73152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4487" y="2331720"/>
            <a:ext cx="4206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8FAFB"/>
                </a:solidFill>
                <a:latin typeface="Inter"/>
              </a:rPr>
              <a:t>  10 agents (3-tier hierarchy)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1607" y="27432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61607" y="2743200"/>
            <a:ext cx="73152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4487" y="2788920"/>
            <a:ext cx="4206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8FAFB"/>
                </a:solidFill>
                <a:latin typeface="Inter"/>
              </a:rPr>
              <a:t>  40 skills (all functional)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1607" y="32004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61607" y="3200400"/>
            <a:ext cx="7315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4487" y="3246120"/>
            <a:ext cx="4206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8FAFB"/>
                </a:solidFill>
                <a:latin typeface="Inter"/>
              </a:rPr>
              <a:t>  Guard agent — proactive governance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61607" y="36576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61607" y="3657600"/>
            <a:ext cx="73152" cy="384048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4487" y="3703320"/>
            <a:ext cx="4206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8FAFB"/>
                </a:solidFill>
                <a:latin typeface="Inter"/>
              </a:rPr>
              <a:t>  Guide agent — developer growth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1607" y="41148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61607" y="4114800"/>
            <a:ext cx="73152" cy="384048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4487" y="4160520"/>
            <a:ext cx="4206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8FAFB"/>
                </a:solidFill>
                <a:latin typeface="Inter"/>
              </a:rPr>
              <a:t>  Operate agent — SRE &amp; runbooks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61607" y="4572000"/>
            <a:ext cx="4572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61607" y="4572000"/>
            <a:ext cx="7315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4487" y="4617720"/>
            <a:ext cx="4206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8FAFB"/>
                </a:solidFill>
                <a:latin typeface="Inter"/>
              </a:rPr>
              <a:t>  Evolve skill — self-improvement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120640"/>
            <a:ext cx="999713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12 skills renamed for clarity: build→code · cicd→pipeline · db→schema · feature-gap→gap · perf→performance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IDE-Adapted Mirrors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Spec 053 — Full behavior in every 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9713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963137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4444"/>
                </a:solidFill>
                <a:latin typeface="JetBrains Mono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4028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Inter"/>
              </a:rPr>
              <a:t>IDE thin wrappers reference .ai-engineering/ but most IDEs don't execute references → behaviors like Interrogation Phase never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17520"/>
            <a:ext cx="9997135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963137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290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Inter"/>
              </a:rPr>
              <a:t>Full IDE-adapted copies in .claude/, .github/, .agents/ — each IDE gets complete, executable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244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244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44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Scaffold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972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972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972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Sync
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4700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700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700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Delete
legacy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428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428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P3-4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28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Install
+ owners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156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156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Update
validators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884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884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P6-7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884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Skills
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612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612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612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Legacy
migration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3407" y="4297680"/>
            <a:ext cx="10058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3407" y="4343400"/>
            <a:ext cx="10058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3407" y="45537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Update
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166360"/>
            <a:ext cx="999713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Canonical source: src/ai_engineering/templates/.ai-engineering/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Observability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Specs 042, 044, 045 — Rich dashboards + cross-IDE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9527" y="2011680"/>
            <a:ext cx="1828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49527" y="2011680"/>
            <a:ext cx="73152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4119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D4AA"/>
                </a:solidFill>
                <a:latin typeface="JetBrains Mono"/>
              </a:rPr>
              <a:t>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4119" y="2468880"/>
            <a:ext cx="1554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Code quality
Gate performance
Decision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5487" y="2011680"/>
            <a:ext cx="1828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15487" y="2011680"/>
            <a:ext cx="73152" cy="1645920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0079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6BA4"/>
                </a:solidFill>
                <a:latin typeface="JetBrains Mono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0079" y="2468880"/>
            <a:ext cx="1554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Token economy
Noise ratio
Skill usage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1447" y="2011680"/>
            <a:ext cx="1828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81447" y="2011680"/>
            <a:ext cx="73152" cy="1645920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6039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B3FA0"/>
                </a:solidFill>
                <a:latin typeface="JetBrains Mono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039" y="2468880"/>
            <a:ext cx="1554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Context efficiency
Skill efficiency
Pattern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7407" y="2011680"/>
            <a:ext cx="1828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47407" y="201168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1999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JetBrains Mono"/>
              </a:rPr>
              <a:t>DORA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1999" y="2468880"/>
            <a:ext cx="1554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Lead time
Change failure
Deploy frequency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3367" y="2011680"/>
            <a:ext cx="1828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13367" y="201168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7959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7959" y="2468880"/>
            <a:ext cx="1554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Signal quality
Test confidence
Security posture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40967" y="4114800"/>
            <a:ext cx="3017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40967" y="4114800"/>
            <a:ext cx="73152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3847" y="420624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Cross-IDE 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3847" y="4526280"/>
            <a:ext cx="2651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ai-eng signals emit skill_invoked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ai-eng signals emit agent_dispatched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VCS context: branch, SHA, repo URL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87087" y="4114800"/>
            <a:ext cx="3017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87087" y="4114800"/>
            <a:ext cx="73152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9967" y="420624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Rich Formatting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9967" y="4526280"/>
            <a:ext cx="2651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Progress bars with percentages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Score badges (green/yellow/red)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Metric tables with color coding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33207" y="4114800"/>
            <a:ext cx="3017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33207" y="4114800"/>
            <a:ext cx="73152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6087" y="420624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Dual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6087" y="4526280"/>
            <a:ext cx="2651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Human: Rich-formatted tables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Machine: --json with SuccessEnvelope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4 new cli_ui primitives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Security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Spec 049 — Zero suppression, zero tolerance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47548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4444"/>
                </a:solidFill>
                <a:latin typeface="JetBrains Mono"/>
              </a:rPr>
              <a:t>SonarCloud 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3891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200" b="0">
                <a:solidFill>
                  <a:srgbClr val="E2E8F0"/>
                </a:solidFill>
                <a:latin typeface="Inter"/>
              </a:rPr>
              <a:t>  4x BLOCKER — Path traversal (S2083) → path validation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E2E8F0"/>
                </a:solidFill>
                <a:latin typeface="Inter"/>
              </a:rPr>
              <a:t>  1x MAJOR — Command injection (S6350) → arg validation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  4x Regex DoS hotspots (S5852) → verified safe</a:t>
            </a:r>
          </a:p>
          <a:p>
            <a:pPr algn="l">
              <a:spcAft>
                <a:spcPts val="1200"/>
              </a:spcAft>
            </a:pPr>
            <a:r>
              <a:rPr sz="800" b="0">
                <a:solidFill>
                  <a:srgbClr val="94A3B8"/>
                </a:solidFill>
                <a:latin typeface="Inter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0B981"/>
                </a:solidFill>
                <a:latin typeface="Inter"/>
              </a:rPr>
              <a:t>  All fixed by code changes — zero suppression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D4AA"/>
                </a:solidFill>
                <a:latin typeface="JetBrains Mono"/>
              </a:rPr>
              <a:t>4-Stage Gate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68880"/>
            <a:ext cx="47548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468880"/>
            <a:ext cx="73152" cy="4389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Pre-commit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gitleaks, ruff format/check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71800"/>
            <a:ext cx="47548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971800"/>
            <a:ext cx="73152" cy="438912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BA4"/>
                </a:solidFill>
                <a:latin typeface="Inter"/>
              </a:rPr>
              <a:t>Commit-msg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175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Message policy, trailers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47548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73152" cy="438912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B3FA0"/>
                </a:solidFill>
                <a:latin typeface="Inter"/>
              </a:rPr>
              <a:t>Pre-push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204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semgrep, pip-audit, pytest, 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77640"/>
            <a:ext cx="47548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977640"/>
            <a:ext cx="7315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Inter"/>
              </a:rPr>
              <a:t>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02336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Full matrix + SonarCloud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480560"/>
            <a:ext cx="9997135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553712"/>
            <a:ext cx="963137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JetBrains Mono"/>
              </a:rPr>
              <a:t>NEW GOVERNANCE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00600"/>
            <a:ext cx="963137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Inter"/>
              </a:rPr>
              <a:t>No suppression comments allowed (# NOSONAR, # nosec, # noqa, # type: ignore, # pragma: no cover). Fix root cause or escalate.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999713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+ Snyk CI/CD integration for continuous dependency vulnerability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Testing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Spec 052 — TDD protocol + Interrogation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3807" y="1828800"/>
            <a:ext cx="3108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3807" y="1828800"/>
            <a:ext cx="73152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6687" y="19202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TDD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6687" y="2240280"/>
            <a:ext cx="2743200" cy="205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RED phase: write failing tests first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GREEN phase: implement to pass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Tests are immutable during impl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Iron Law: never weaken tests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Writer/implementer separation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Enforced by dispatch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1367" y="1828800"/>
            <a:ext cx="3108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1367" y="1828800"/>
            <a:ext cx="73152" cy="2560320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247" y="19202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Interrogation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2240280"/>
            <a:ext cx="2743200" cy="205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Challenge assumptions before planning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Map: KNOWN / ASSUMED / UNKNOWN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Executable acceptance criteria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Verification Commands with expected output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Replaces prose-based verification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Built into plan agent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78927" y="1828800"/>
            <a:ext cx="3108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78927" y="1828800"/>
            <a:ext cx="73152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1807" y="19202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Inter"/>
              </a:rPr>
              <a:t>Test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807" y="2240280"/>
            <a:ext cx="2743200" cy="205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91% coverage (target: 80%)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20 stacks supported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Fakes over mocks pattern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AAA (Arrange-Act-Assert)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63 patches → 1 fixture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  • Flaky test diagnostics (6 categories)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999713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Inter"/>
              </a:rPr>
              <a:t>Test coverage went from 26% (meaningful tests) to 91% this sprint — covering agents, skills, and governance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CI/CD &amp;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Spec 046 — Zero-rebuild release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47548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D4AA"/>
                </a:solidFill>
                <a:latin typeface="JetBrains Mono"/>
              </a:rPr>
              <a:t>Zero-Rebuild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43891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E2E8F0"/>
                </a:solidFill>
                <a:latin typeface="Inter"/>
              </a:rPr>
              <a:t>CI builds &amp; validates → artifact stored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D4AA"/>
                </a:solidFill>
                <a:latin typeface="Inter"/>
              </a:rPr>
              <a:t>                    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2E8F0"/>
                </a:solidFill>
                <a:latin typeface="Inter"/>
              </a:rPr>
              <a:t>Release downloads exact CI artifact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D4AA"/>
                </a:solidFill>
                <a:latin typeface="Inter"/>
              </a:rPr>
              <a:t>                    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2E8F0"/>
                </a:solidFill>
                <a:latin typeface="Inter"/>
              </a:rPr>
              <a:t>PyPI + GitHub Releases publish</a:t>
            </a:r>
          </a:p>
          <a:p>
            <a:pPr algn="l">
              <a:spcAft>
                <a:spcPts val="800"/>
              </a:spcAft>
            </a:pPr>
            <a:r>
              <a:rPr sz="600" b="0">
                <a:solidFill>
                  <a:srgbClr val="94A3B8"/>
                </a:solidFill>
                <a:latin typeface="Inter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Inter"/>
              </a:rPr>
              <a:t>What CI tests = what ships. Zero drift.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47548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73152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D4AA"/>
                </a:solidFill>
                <a:latin typeface="Inter"/>
              </a:rPr>
              <a:t>Dependabot Grouping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PRs grouped, exempted from trailer
checks to reduce noise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71800"/>
            <a:ext cx="47548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71800"/>
            <a:ext cx="73152" cy="822960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04495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6BA4"/>
                </a:solidFill>
                <a:latin typeface="Inter"/>
              </a:rPr>
              <a:t>CI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Linux + macOS + Windows
Python 3.11+ · Stabilizing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47548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73152" cy="822960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0507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3FA0"/>
                </a:solidFill>
                <a:latin typeface="Inter"/>
              </a:rPr>
              <a:t>8 Automated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CI fixer, code simplifier, daily triage,
PR review, security scan, weekly 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92040"/>
            <a:ext cx="47548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89204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96519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Inter"/>
              </a:rPr>
              <a:t>Install Smoke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Framework installation validation
across platforms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Quality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Enforced — not aspirational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011680"/>
          <a:ext cx="999713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283"/>
                <a:gridCol w="2499283"/>
                <a:gridCol w="2499283"/>
                <a:gridCol w="249928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1120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1120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1120"/>
                          </a:solidFill>
                          <a:latin typeface="Inter"/>
                        </a:rPr>
                        <a:t>Current</a:t>
                      </a:r>
                    </a:p>
                  </a:txBody>
                  <a:tcPr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1120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00D4A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Inter"/>
                        </a:rPr>
                        <a:t>Test Coverage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Inter"/>
                        </a:rPr>
                        <a:t>≥ 80%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91%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Inter"/>
                        </a:rPr>
                        <a:t>EXCEEDED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Inter"/>
                        </a:rPr>
                        <a:t>Cyclomatic Complexity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Inter"/>
                        </a:rPr>
                        <a:t>≤ 10/function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Enforced (ruff)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Inter"/>
                        </a:rPr>
                        <a:t>PASSING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Inter"/>
                        </a:rPr>
                        <a:t>Cognitive Complexity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Inter"/>
                        </a:rPr>
                        <a:t>≤ 15/function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Enforced (ruff)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Inter"/>
                        </a:rPr>
                        <a:t>PASSING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Inter"/>
                        </a:rPr>
                        <a:t>Gate Pass Rate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Inter"/>
                        </a:rPr>
                        <a:t>PASSING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Inter"/>
                        </a:rPr>
                        <a:t>Token Efficiency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Inter"/>
                        </a:rPr>
                        <a:t>≥ 95% deferred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99.19%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Inter"/>
                        </a:rPr>
                        <a:t>EXCEEDED</a:t>
                      </a:r>
                    </a:p>
                  </a:txBody>
                  <a:tcPr marL="73152" marR="73152" marT="36576" marB="36576">
                    <a:solidFill>
                      <a:srgbClr val="0B11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Inter"/>
                        </a:rPr>
                        <a:t>Code Duplication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Inter"/>
                        </a:rPr>
                        <a:t>≤ 3%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Measured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9E0B"/>
                          </a:solidFill>
                          <a:latin typeface="Inter"/>
                        </a:rPr>
                        <a:t>TRACKING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486400"/>
            <a:ext cx="999713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Inter"/>
              </a:rPr>
              <a:t>All metrics enforced by 4-stage gate pipeline — violations block the commit/push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Governance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38 specs delivered — 4 IDEs supported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7" y="2011680"/>
            <a:ext cx="1828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21488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27432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4047" y="2011680"/>
            <a:ext cx="1828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4047" y="21488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047" y="27432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447" y="2011680"/>
            <a:ext cx="1828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1447" y="21488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447" y="27432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Standards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8847" y="2011680"/>
            <a:ext cx="1828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847" y="21488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47" y="27432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Specs Delivered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6247" y="2011680"/>
            <a:ext cx="1828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247" y="21488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AA"/>
                </a:solidFill>
                <a:latin typeface="JetBrai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27432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Inter"/>
              </a:rPr>
              <a:t>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49527" y="365760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49527" y="3657600"/>
            <a:ext cx="73152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4119" y="37490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D4AA"/>
                </a:solidFill>
                <a:latin typeface="JetBrains Mono"/>
              </a:rPr>
              <a:t>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4119" y="4114800"/>
            <a:ext cx="2011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CLAUDE.md + 40 skills
+ 8 agents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8407" y="365760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18407" y="3657600"/>
            <a:ext cx="73152" cy="1097280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2999" y="37490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6BA4"/>
                </a:solidFill>
                <a:latin typeface="JetBrains Mono"/>
              </a:rPr>
              <a:t>GitHub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2999" y="4114800"/>
            <a:ext cx="2011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copilot-instructions.md
+ prompt files +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7287" y="365760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7287" y="3657600"/>
            <a:ext cx="73152" cy="1097280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37490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3FA0"/>
                </a:solidFill>
                <a:latin typeface="JetBrains Mono"/>
              </a:rPr>
              <a:t>Gemini CLI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1879" y="4114800"/>
            <a:ext cx="2011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GEMINI.md
+ adapted instructions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6167" y="365760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56167" y="365760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0759" y="37490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JetBrains Mono"/>
              </a:rPr>
              <a:t>OpenAI Codex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0759" y="4114800"/>
            <a:ext cx="2011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AGENTS.md
+ native format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29200"/>
            <a:ext cx="999713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Inter"/>
              </a:rPr>
              <a:t>State: 17 decisions (SHA-256 hashed)  ·  185+ audit events  ·  Ownership map  ·  Sources lock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9997135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85800"/>
            <a:ext cx="99971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Risks &amp; Next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4444"/>
                </a:solidFill>
                <a:latin typeface="JetBrains Mono"/>
              </a:rPr>
              <a:t>ACTIVE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4754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359152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JetBrains Mono"/>
              </a:rP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359152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E8F0"/>
                </a:solidFill>
                <a:latin typeface="Inter"/>
              </a:rPr>
              <a:t>ty type checker: 84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33472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nter"/>
              </a:rPr>
              <a:t>Non-blocking tech debt — systematic remediation planned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063240"/>
            <a:ext cx="4754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06324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36392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JetBrains Mono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136392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E8F0"/>
                </a:solidFill>
                <a:latin typeface="Inter"/>
              </a:rPr>
              <a:t>Cross-OS CI stabilization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10712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nter"/>
              </a:rPr>
              <a:t>Windows + macOS need further hardening in CI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840480"/>
            <a:ext cx="4754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840480"/>
            <a:ext cx="73152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913632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D4AA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13632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E8F0"/>
                </a:solidFill>
                <a:latin typeface="Inter"/>
              </a:rPr>
              <a:t>Architecture v3 agent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87952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nter"/>
              </a:rPr>
              <a:t>3 new agents (guard, guide, operate) need integration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JetBrains Mono"/>
              </a:rPr>
              <a:t>NEXT SPRINT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286000"/>
            <a:ext cx="4754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286000"/>
            <a:ext cx="73152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5915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D4AA"/>
                </a:solidFill>
                <a:latin typeface="Inter"/>
              </a:rPr>
              <a:t>Spec 053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33472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Finalize Phase 10+ of IDE-adapted mirrors migration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63240"/>
            <a:ext cx="4754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063240"/>
            <a:ext cx="73152" cy="685800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13639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6BA4"/>
                </a:solidFill>
                <a:latin typeface="Inter"/>
              </a:rPr>
              <a:t>Release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10712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Docs site (Nextra), PyPI stable release, remote skill sources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4754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73152" cy="685800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1363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3FA0"/>
                </a:solidFill>
                <a:latin typeface="Inter"/>
              </a:rPr>
              <a:t>Framework v2 Restructure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87952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Complete 8-dimension platform audit remediation (Spec 050)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617720"/>
            <a:ext cx="4754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61772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690872"/>
            <a:ext cx="4389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Inter"/>
              </a:rPr>
              <a:t>Multi-IDE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65192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End-to-end validation across Claude, Copilot, Gemini, Codex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9713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JetBrains Mono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247" y="320040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9971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D4AA"/>
                </a:solidFill>
                <a:latin typeface="Inter"/>
              </a:rPr>
              <a:t>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1007" y="4572000"/>
            <a:ext cx="20116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61007" y="45720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Architecture v3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47007" y="4572000"/>
            <a:ext cx="20116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47007" y="45720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IDE Mirrors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572000"/>
            <a:ext cx="20116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45720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Observability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19007" y="4572000"/>
            <a:ext cx="20116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9007" y="45720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4AA"/>
                </a:solidFill>
                <a:latin typeface="Inter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Inter"/>
              </a:rPr>
              <a:t>Sprint Feb 16 — Mar 16, 2026  ·  ai-engineering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