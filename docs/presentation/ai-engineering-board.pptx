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Today I present ai-engineering — a governance framework for AI-assisted development.</a:t>
            </a:r>
          </a:p>
          <a:p/>
          <a:p>
            <a:r>
              <a:t>It is not a platform to buy. It is not a pipeline to manage. It is a content framework — Markdown, YAML, JSON, Bash — that turns AI assistance into governed delivery.</a:t>
            </a:r>
          </a:p>
          <a:p/>
          <a:p>
            <a:r>
              <a:t>Open source, MIT license, Python 3.11+, compatible with any operating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understand why we need governance, let's see how we got here.</a:t>
            </a:r>
          </a:p>
          <a:p/>
          <a:p>
            <a:r>
              <a:t>In 2022 we had code completion — Copilot, TabNine — suggesting line by line. In 2023 came chat-in-IDE: conversations with AI inside the editor. In 2024, agentic coding — tools like Claude Code or Devin that execute complete tasks autonomously.</a:t>
            </a:r>
          </a:p>
          <a:p/>
          <a:p>
            <a:r>
              <a:t>In 2025 the multi-agent ecosystem exploded: MCP — Model Context Protocol — for tool integration, and A2A — Agent-to-Agent — for agent coordination.</a:t>
            </a:r>
          </a:p>
          <a:p/>
          <a:p>
            <a:r>
              <a:t>But here is the critical point: all this capability has developed without a governance layer. More power without more control.</a:t>
            </a:r>
          </a:p>
          <a:p/>
          <a:p>
            <a:r>
              <a:t>Skills: reusable procedures in Markdown.</a:t>
            </a:r>
          </a:p>
          <a:p>
            <a:r>
              <a:t>Agents: specialized personas — behavior contracts.</a:t>
            </a:r>
          </a:p>
          <a:p>
            <a:r>
              <a:t>MCP: Model Context Protocol — standard for external tool connection.</a:t>
            </a:r>
          </a:p>
          <a:p>
            <a:r>
              <a:t>A2A: Agent-to-Agent — coordination between multiple agents.</a:t>
            </a:r>
          </a:p>
          <a:p/>
          <a:p>
            <a:r>
              <a:t>ai-engineering does NOT use MCP or A2A directly — but it positions itself as the missing governance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happens when you use AI to code without governance.</a:t>
            </a:r>
          </a:p>
          <a:p/>
          <a:p>
            <a:r>
              <a:t>Four AI agents, same codebase, zero coordination. The result:</a:t>
            </a:r>
          </a:p>
          <a:p>
            <a:r>
              <a:t>- Secrets in commits — AI generates code with credentials.</a:t>
            </a:r>
          </a:p>
          <a:p>
            <a:r>
              <a:t>- Quality gates bypassed — AI skips tests, ignores linting.</a:t>
            </a:r>
          </a:p>
          <a:p>
            <a:r>
              <a:t>- Architectural drift — each agent makes different decisions.</a:t>
            </a:r>
          </a:p>
          <a:p>
            <a:r>
              <a:t>- Repeated decisions — AI asks the same thing every session.</a:t>
            </a:r>
          </a:p>
          <a:p/>
          <a:p>
            <a:r>
              <a:t>For the boards:</a:t>
            </a:r>
          </a:p>
          <a:p>
            <a:r>
              <a:t>- Compliance gaps: no audit trail.</a:t>
            </a:r>
          </a:p>
          <a:p>
            <a:r>
              <a:t>- Security exposure: secrets in git.</a:t>
            </a:r>
          </a:p>
          <a:p>
            <a:r>
              <a:t>- Quality degradation: no thresholds.</a:t>
            </a:r>
          </a:p>
          <a:p>
            <a:r>
              <a:t>- Knowledge loss: decisions that are lost.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did not arrive at ai-engineering on the first try. We explored four frameworks:</a:t>
            </a:r>
          </a:p>
          <a:p/>
          <a:p>
            <a:r>
              <a:t>- SpecKit: good spec management, but no enforcement.</a:t>
            </a:r>
          </a:p>
          <a:p>
            <a:r>
              <a:t>- BMAD Method: excellent orchestration, but heavyweight.</a:t>
            </a:r>
          </a:p>
          <a:p>
            <a:r>
              <a:t>- GSD: pragmatic, but no governance.</a:t>
            </a:r>
          </a:p>
          <a:p>
            <a:r>
              <a:t>- OpenSpec: standard aspirations, but no practical tooling.</a:t>
            </a:r>
          </a:p>
          <a:p/>
          <a:p>
            <a:r>
              <a:t>After 5 iterations: content-first governance, simple to adopt, strict for enforcement, flexible to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is ai-engineering exactly?</a:t>
            </a:r>
          </a:p>
          <a:p/>
          <a:p>
            <a:r>
              <a:t>It is NOT a platform. It is NOT a CI/CD pipeline. It is a content framework.</a:t>
            </a:r>
          </a:p>
          <a:p/>
          <a:p>
            <a:r>
              <a:t>Five subdirectories:</a:t>
            </a:r>
          </a:p>
          <a:p>
            <a:r>
              <a:t>- standards/ — framework and team rules.</a:t>
            </a:r>
          </a:p>
          <a:p>
            <a:r>
              <a:t>- skills/ — 31 reusable procedures in 7 categories.</a:t>
            </a:r>
          </a:p>
          <a:p>
            <a:r>
              <a:t>- agents/ — 8 specialized personas.</a:t>
            </a:r>
          </a:p>
          <a:p>
            <a:r>
              <a:t>- context/ — delivery specs, product contracts.</a:t>
            </a:r>
          </a:p>
          <a:p>
            <a:r>
              <a:t>- state/ — decision store, audit log, manifests.</a:t>
            </a:r>
          </a:p>
          <a:p/>
          <a:p>
            <a:r>
              <a:t>Minimal CLI: ai-eng install, update, doctor, validate.</a:t>
            </a:r>
          </a:p>
          <a:p/>
          <a:p>
            <a:r>
              <a:t>Works with Claude Code (37 slash commands), GitHub Copilot, OpenAI Codex.</a:t>
            </a:r>
          </a:p>
          <a:p>
            <a:r>
              <a:t>A constitution for the AI-assisted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developer experience in under 5 minutes:</a:t>
            </a:r>
          </a:p>
          <a:p/>
          <a:p>
            <a:r>
              <a:t>ai-eng install . — creates the governance root, configures git hooks, generates state files.</a:t>
            </a:r>
          </a:p>
          <a:p/>
          <a:p>
            <a:r>
              <a:t>Every commit goes through quality gates:</a:t>
            </a:r>
          </a:p>
          <a:p>
            <a:r>
              <a:t>- Pre-commit: ruff format/lint, gitleaks.</a:t>
            </a:r>
          </a:p>
          <a:p>
            <a:r>
              <a:t>- Commit-msg: valid format, branch protection.</a:t>
            </a:r>
          </a:p>
          <a:p>
            <a:r>
              <a:t>- Pre-push: semgrep SAST/OWASP, pip-audit CVEs, pytest, ty type checking.</a:t>
            </a:r>
          </a:p>
          <a:p/>
          <a:p>
            <a:r>
              <a:t>If any gate fails: the push is blocked. No bypass.</a:t>
            </a:r>
          </a:p>
          <a:p/>
          <a:p>
            <a:r>
              <a:t>Your next commit after install is already governed.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clear boundaries:</a:t>
            </a:r>
          </a:p>
          <a:p/>
          <a:p>
            <a:r>
              <a:t>1. Framework-managed: standards, skills, agents. Updatable with ai-eng update.</a:t>
            </a:r>
          </a:p>
          <a:p>
            <a:r>
              <a:t>2. Team-managed: standards/team/. NEVER overwritten by updates.</a:t>
            </a:r>
          </a:p>
          <a:p>
            <a:r>
              <a:t>3. Project-managed: specs, contracts. NEVER overwritten.</a:t>
            </a:r>
          </a:p>
          <a:p>
            <a:r>
              <a:t>4. System-managed: runtime state files.</a:t>
            </a:r>
          </a:p>
          <a:p/>
          <a:p>
            <a:r>
              <a:t>Ownership boundaries are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31 skills organized in 7 categories:</a:t>
            </a:r>
          </a:p>
          <a:p>
            <a:r>
              <a:t>- Workflows (4): commit, PR, acho, pre-implementation.</a:t>
            </a:r>
          </a:p>
          <a:p>
            <a:r>
              <a:t>- Dev (6): debug, refactor, code review, test strategy, migration, deps.</a:t>
            </a:r>
          </a:p>
          <a:p>
            <a:r>
              <a:t>- Review (3): architecture, performance, security.</a:t>
            </a:r>
          </a:p>
          <a:p>
            <a:r>
              <a:t>- Docs (4): changelog, explain, writer, prompt design.</a:t>
            </a:r>
          </a:p>
          <a:p>
            <a:r>
              <a:t>- Govern (9): create/delete specs, skills, agents + risk lifecycle.</a:t>
            </a:r>
          </a:p>
          <a:p>
            <a:r>
              <a:t>- Quality (3): audit code, audit report, install check.</a:t>
            </a:r>
          </a:p>
          <a:p>
            <a:r>
              <a:t>- Utils (3): git helpers, platform detection, Python patterns.</a:t>
            </a:r>
          </a:p>
          <a:p/>
          <a:p>
            <a:r>
              <a:t>They are NOT code. They are behavior specifications. Any AI agent reads and executes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specialized agents:</a:t>
            </a:r>
          </a:p>
          <a:p>
            <a:r>
              <a:t>- Principal Engineer: senior code review.</a:t>
            </a:r>
          </a:p>
          <a:p>
            <a:r>
              <a:t>- Architect: architectural analysis.</a:t>
            </a:r>
          </a:p>
          <a:p>
            <a:r>
              <a:t>- Security Reviewer: security assessment.</a:t>
            </a:r>
          </a:p>
          <a:p>
            <a:r>
              <a:t>- Debugger: systematic diagnosis.</a:t>
            </a:r>
          </a:p>
          <a:p>
            <a:r>
              <a:t>- Quality Auditor: quality gate enforcement.</a:t>
            </a:r>
          </a:p>
          <a:p>
            <a:r>
              <a:t>- Verify App: end-to-end verification.</a:t>
            </a:r>
          </a:p>
          <a:p>
            <a:r>
              <a:t>- Codebase Mapper: structure mapping.</a:t>
            </a:r>
          </a:p>
          <a:p>
            <a:r>
              <a:t>- Code Simplifier: complexity reduction.</a:t>
            </a:r>
          </a:p>
          <a:p/>
          <a:p>
            <a:r>
              <a:t>Each agent has: Identity, Capabilities, Activation rules, Behavior protocol, Referenced Skills, Output Contract, and Boundaries.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non-trivial change follows a 4-document cycle:</a:t>
            </a:r>
          </a:p>
          <a:p>
            <a:r>
              <a:t>- spec.md — the WHAT.</a:t>
            </a:r>
          </a:p>
          <a:p>
            <a:r>
              <a:t>- plan.md — the HOW.</a:t>
            </a:r>
          </a:p>
          <a:p>
            <a:r>
              <a:t>- tasks.md — the DO.</a:t>
            </a:r>
          </a:p>
          <a:p>
            <a:r>
              <a:t>- done.md — the DONE.</a:t>
            </a:r>
          </a:p>
          <a:p/>
          <a:p>
            <a:r>
              <a:t>It is NOT bureaucracy. It is AI session recovery. Any agent can resume any spec at any point.</a:t>
            </a:r>
          </a:p>
          <a:p/>
          <a:p>
            <a:r>
              <a:t>Multi-agent execution is parallel. Each phase passes through a phase 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Institutional memory lives in 5 state files:</a:t>
            </a:r>
          </a:p>
          <a:p>
            <a:r>
              <a:t>- install-manifest.json: what was installed, when.</a:t>
            </a:r>
          </a:p>
          <a:p>
            <a:r>
              <a:t>- ownership-map.json: who owns each path.</a:t>
            </a:r>
          </a:p>
          <a:p>
            <a:r>
              <a:t>- sources.lock.json: remote skills with verifiable checksums.</a:t>
            </a:r>
          </a:p>
          <a:p>
            <a:r>
              <a:t>- decision-store.json: 10 real decisions with SHA-256 context hash.</a:t>
            </a:r>
          </a:p>
          <a:p>
            <a:r>
              <a:t>- audit-log.ndjson: 183 recorded events.</a:t>
            </a:r>
          </a:p>
          <a:p/>
          <a:p>
            <a:r>
              <a:t>Decision continuity: Agent A decides in session 1, Agent B does not ask again in session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mandatory stages:</a:t>
            </a:r>
          </a:p>
          <a:p>
            <a:r>
              <a:t>- Pre-commit: ruff format, ruff lint, gitleaks.</a:t>
            </a:r>
          </a:p>
          <a:p>
            <a:r>
              <a:t>- Commit-msg: valid format, branch protection.</a:t>
            </a:r>
          </a:p>
          <a:p>
            <a:r>
              <a:t>- Pre-push: semgrep, pip-audit, pytest, ty.</a:t>
            </a:r>
          </a:p>
          <a:p/>
          <a:p>
            <a:r>
              <a:t>Thresholds: Coverage &gt;=80%, Duplication &lt;=3%, CC &lt;=10, CogC &lt;=15.</a:t>
            </a:r>
          </a:p>
          <a:p/>
          <a:p>
            <a:r>
              <a:t>Structured risk acceptance: Critical 15d, High 30d, Medium 60d, Low 90d. Maximum 2 renewals.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value depends on who is looking:</a:t>
            </a:r>
          </a:p>
          <a:p>
            <a:r>
              <a:t>- Engineers: 37 slash commands, quality gates before push.</a:t>
            </a:r>
          </a:p>
          <a:p>
            <a:r>
              <a:t>- Governance/Compliance: audit-log with 183 traceable events, decision store with 10 decisions.</a:t>
            </a:r>
          </a:p>
          <a:p>
            <a:r>
              <a:t>- Security/AppSec: gitleaks + semgrep + pip-audit on every push.</a:t>
            </a:r>
          </a:p>
          <a:p>
            <a:r>
              <a:t>- Quality/DevEx: Sonar-like quality gates WITHOUT a SonarQube server.</a:t>
            </a:r>
          </a:p>
          <a:p>
            <a:r>
              <a:t>- Architecture: Standards with layering, ownership boundaries.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Direct business case:</a:t>
            </a:r>
          </a:p>
          <a:p>
            <a:r>
              <a:t>- Risk reduction: 0 ungated operations. 100% gate execution.</a:t>
            </a:r>
          </a:p>
          <a:p>
            <a:r>
              <a:t>- Cost avoidance: 0 SonarQube licenses. MIT open source.</a:t>
            </a:r>
          </a:p>
          <a:p>
            <a:r>
              <a:t>- Consistency: same framework across all repos.</a:t>
            </a:r>
          </a:p>
          <a:p>
            <a:r>
              <a:t>- Time savings: &lt;5 min from install to first governed commit.</a:t>
            </a:r>
          </a:p>
          <a:p>
            <a:r>
              <a:t>- Compliance readiness: audit log, risk acceptance, decision store with SHA-256.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vendor lock-in.</a:t>
            </a:r>
          </a:p>
          <a:p/>
          <a:p>
            <a:r>
              <a:t>Claude Code: CLAUDE.md + 37 slash commands.</a:t>
            </a:r>
          </a:p>
          <a:p>
            <a:r>
              <a:t>Copilot: copilot-instructions.md + prompts in .github/copilot/.</a:t>
            </a:r>
          </a:p>
          <a:p>
            <a:r>
              <a:t>Codex: codex.md.</a:t>
            </a:r>
          </a:p>
          <a:p>
            <a:r>
              <a:t>Terminal: CLI directly.</a:t>
            </a:r>
          </a:p>
          <a:p/>
          <a:p>
            <a:r>
              <a:t>You change providers, you keep the governance.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not just an instructions file?</a:t>
            </a:r>
          </a:p>
          <a:p/>
          <a:p>
            <a:r>
              <a:t>Simple instructions work for individual tasks. They break at scale:</a:t>
            </a:r>
          </a:p>
          <a:p>
            <a:r>
              <a:t>- No enforcement, no state, no ownership, no audit trail.</a:t>
            </a:r>
          </a:p>
          <a:p>
            <a:r>
              <a:t>- No security scanning, no risk management, no delivery lifecycle.</a:t>
            </a:r>
          </a:p>
          <a:p/>
          <a:p>
            <a:r>
              <a:t>Simple instructions: 0/8 capabilities enforced. ai-engineering: 8/8.</a:t>
            </a:r>
          </a:p>
          <a:p/>
          <a:p>
            <a:r>
              <a:t>Instructions tell AI what to do. ai-engineering ensures it actually does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Against the alternatives:</a:t>
            </a:r>
          </a:p>
          <a:p>
            <a:r>
              <a:t>- vs SpecKit: manages specs — ai-engineering manages the full governed cycle.</a:t>
            </a:r>
          </a:p>
          <a:p>
            <a:r>
              <a:t>- vs BMAD: strong multi-agent, but heavyweight.</a:t>
            </a:r>
          </a:p>
          <a:p>
            <a:r>
              <a:t>- vs GSD: pragmatic, no governance backbone.</a:t>
            </a:r>
          </a:p>
          <a:p>
            <a:r>
              <a:t>- vs OpenSpec: aspirational standard, not installable today.</a:t>
            </a:r>
          </a:p>
          <a:p/>
          <a:p>
            <a:r>
              <a:t>Five differentiators:</a:t>
            </a:r>
          </a:p>
          <a:p>
            <a:r>
              <a:t>1. Content-first</a:t>
            </a:r>
          </a:p>
          <a:p>
            <a:r>
              <a:t>2. Non-bypassable enforcement</a:t>
            </a:r>
          </a:p>
          <a:p>
            <a:r>
              <a:t>3. Risk lifecycle</a:t>
            </a:r>
          </a:p>
          <a:p>
            <a:r>
              <a:t>4. Cross-IDE day one</a:t>
            </a:r>
          </a:p>
          <a:p>
            <a:r>
              <a:t>5. Ownership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ask: approve ai-engineering as the governance standard for AI-assisted development in the organization.</a:t>
            </a:r>
          </a:p>
          <a:p/>
          <a:p>
            <a:r>
              <a:t>Pilot plan: 2-3 repositories next quarter.</a:t>
            </a:r>
          </a:p>
          <a:p>
            <a:r>
              <a:t>Metrics: gate execution rate, time to governed commit, security catch rate, decision reuse rate.</a:t>
            </a:r>
          </a:p>
          <a:p/>
          <a:p>
            <a:r>
              <a:t>Roadmap:</a:t>
            </a:r>
          </a:p>
          <a:p>
            <a:r>
              <a:t>- Phase 1: GitHub + Python + Claude/Copilot/Codex.</a:t>
            </a:r>
          </a:p>
          <a:p>
            <a:r>
              <a:t>- Phase 2: Azure DevOps + more stacks + signature verification.</a:t>
            </a:r>
          </a:p>
          <a:p>
            <a:r>
              <a:t>- Phase 3: Multi-agent orchestration + docs site.</a:t>
            </a:r>
          </a:p>
          <a:p/>
          <a:p>
            <a:r>
              <a:t>Investment: $0 license cost. MIT open source.</a:t>
            </a:r>
          </a:p>
          <a:p>
            <a:r>
              <a:t>Next step: Approve the pilot scope. The framework is ready to install today.</a:t>
            </a:r>
          </a:p>
          <a:p/>
          <a:p>
            <a:r>
              <a:t>Thank you. 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997135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JetBrains Mono"/>
              </a:rPr>
              <a:t>ai-engineering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017520"/>
            <a:ext cx="9997135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8FAFB"/>
                </a:solidFill>
                <a:latin typeface="Inter"/>
              </a:rPr>
              <a:t>Governance for AI-Assisted Development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724247" y="370332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931920"/>
            <a:ext cx="99971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4748B"/>
                </a:solidFill>
                <a:latin typeface="Inter"/>
              </a:rPr>
              <a:t>Simple.  Efficient.  Practical.  Robust.  Secure.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26967" y="4937760"/>
            <a:ext cx="146304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6967" y="4937760"/>
            <a:ext cx="146304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MIT License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64327" y="4937760"/>
            <a:ext cx="146304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4327" y="4937760"/>
            <a:ext cx="146304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Python 3.11+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01687" y="4937760"/>
            <a:ext cx="146304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01687" y="4937760"/>
            <a:ext cx="146304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Cross-IDE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00800"/>
            <a:ext cx="12191695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548640"/>
            <a:ext cx="9997135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85800"/>
            <a:ext cx="9997135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JetBrains Mono"/>
              </a:rPr>
              <a:t>Current State of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64748B"/>
                </a:solidFill>
                <a:latin typeface="Inter"/>
              </a:rPr>
              <a:t>From autocomplete to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3017520"/>
            <a:ext cx="9997135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1540" y="2824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20" y="228600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" y="3383280"/>
            <a:ext cx="10972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8FAFB"/>
                </a:solidFill>
                <a:latin typeface="Inter"/>
              </a:rPr>
              <a:t>Code
Completion</a:t>
            </a:r>
          </a:p>
        </p:txBody>
      </p:sp>
      <p:sp>
        <p:nvSpPr>
          <p:cNvPr id="9" name="Oval 8"/>
          <p:cNvSpPr/>
          <p:nvPr/>
        </p:nvSpPr>
        <p:spPr>
          <a:xfrm>
            <a:off x="3390823" y="2824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16503" y="228600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5063" y="3383280"/>
            <a:ext cx="10972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8FAFB"/>
                </a:solidFill>
                <a:latin typeface="Inter"/>
              </a:rPr>
              <a:t>Chat-in-
IDE</a:t>
            </a:r>
          </a:p>
        </p:txBody>
      </p:sp>
      <p:sp>
        <p:nvSpPr>
          <p:cNvPr id="12" name="Oval 11"/>
          <p:cNvSpPr/>
          <p:nvPr/>
        </p:nvSpPr>
        <p:spPr>
          <a:xfrm>
            <a:off x="5890107" y="2824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15787" y="228600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4347" y="3383280"/>
            <a:ext cx="10972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8FAFB"/>
                </a:solidFill>
                <a:latin typeface="Inter"/>
              </a:rPr>
              <a:t>Agentic
Coding</a:t>
            </a:r>
          </a:p>
        </p:txBody>
      </p:sp>
      <p:sp>
        <p:nvSpPr>
          <p:cNvPr id="15" name="Oval 14"/>
          <p:cNvSpPr/>
          <p:nvPr/>
        </p:nvSpPr>
        <p:spPr>
          <a:xfrm>
            <a:off x="8389391" y="2824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15071" y="228600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23631" y="3383280"/>
            <a:ext cx="10972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8FAFB"/>
                </a:solidFill>
                <a:latin typeface="Inter"/>
              </a:rPr>
              <a:t>Multi-Agent
(MCP/A2A)</a:t>
            </a:r>
          </a:p>
        </p:txBody>
      </p:sp>
      <p:sp>
        <p:nvSpPr>
          <p:cNvPr id="18" name="Oval 17"/>
          <p:cNvSpPr/>
          <p:nvPr/>
        </p:nvSpPr>
        <p:spPr>
          <a:xfrm>
            <a:off x="10888675" y="282448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14355" y="228600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Today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22915" y="3383280"/>
            <a:ext cx="10972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8FAFB"/>
                </a:solidFill>
                <a:latin typeface="Inter"/>
              </a:rPr>
              <a:t>Governance
???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49527" y="4937760"/>
            <a:ext cx="2286000" cy="9144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59255" y="5010912"/>
            <a:ext cx="2066544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D4AA"/>
                </a:solidFill>
                <a:latin typeface="Inter"/>
              </a:rPr>
              <a:t>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9255" y="5285232"/>
            <a:ext cx="206654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Reusable procedures
in Markdown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18407" y="4937760"/>
            <a:ext cx="2286000" cy="9144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28135" y="5010912"/>
            <a:ext cx="2066544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D4AA"/>
                </a:solidFill>
                <a:latin typeface="Inter"/>
              </a:rPr>
              <a:t>Agents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28135" y="5285232"/>
            <a:ext cx="206654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Specialized personas —
behavior contracts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7287" y="4937760"/>
            <a:ext cx="2286000" cy="9144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7015" y="5010912"/>
            <a:ext cx="2066544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D4AA"/>
                </a:solidFill>
                <a:latin typeface="Inter"/>
              </a:rPr>
              <a:t>MCP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7015" y="5285232"/>
            <a:ext cx="206654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Model Context Protocol —
external tool connection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56167" y="4937760"/>
            <a:ext cx="2286000" cy="9144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5895" y="5010912"/>
            <a:ext cx="2066544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D4AA"/>
                </a:solidFill>
                <a:latin typeface="Inter"/>
              </a:rPr>
              <a:t>A2A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5895" y="5285232"/>
            <a:ext cx="206654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Agent-to-Agent —
coordination between agents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548640"/>
            <a:ext cx="9997135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85800"/>
            <a:ext cx="9997135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JetBrains Mono"/>
              </a:rPr>
              <a:t>The Problem: Ungoverned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90007" y="2286000"/>
            <a:ext cx="2011680" cy="914400"/>
          </a:xfrm>
          <a:prstGeom prst="rect">
            <a:avLst/>
          </a:prstGeom>
          <a:solidFill>
            <a:srgbClr val="1E293B"/>
          </a:solidFill>
          <a:ln w="254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90007" y="2286000"/>
            <a:ext cx="201168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2E8F0"/>
                </a:solidFill>
                <a:latin typeface="Inter"/>
              </a:rPr>
              <a:t>CODEBASE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04007" y="2194560"/>
            <a:ext cx="1463040" cy="640080"/>
          </a:xfrm>
          <a:prstGeom prst="roundRect">
            <a:avLst/>
          </a:prstGeom>
          <a:solidFill>
            <a:srgbClr val="0B1E3A"/>
          </a:solidFill>
          <a:ln w="12700">
            <a:solidFill>
              <a:srgbClr val="2E6B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04007" y="2194560"/>
            <a:ext cx="146304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AB5D6"/>
                </a:solidFill>
                <a:latin typeface="Inter"/>
              </a:rPr>
              <a:t>Agent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58887" y="2194560"/>
            <a:ext cx="1463040" cy="640080"/>
          </a:xfrm>
          <a:prstGeom prst="roundRect">
            <a:avLst/>
          </a:prstGeom>
          <a:solidFill>
            <a:srgbClr val="0B1E3A"/>
          </a:solidFill>
          <a:ln w="12700">
            <a:solidFill>
              <a:srgbClr val="2E6B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58887" y="2194560"/>
            <a:ext cx="146304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AB5D6"/>
                </a:solidFill>
                <a:latin typeface="Inter"/>
              </a:rPr>
              <a:t>Agent 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01287" y="1280160"/>
            <a:ext cx="1463040" cy="640080"/>
          </a:xfrm>
          <a:prstGeom prst="roundRect">
            <a:avLst/>
          </a:prstGeom>
          <a:solidFill>
            <a:srgbClr val="0B1E3A"/>
          </a:solidFill>
          <a:ln w="12700">
            <a:solidFill>
              <a:srgbClr val="2E6B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01287" y="1280160"/>
            <a:ext cx="146304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AB5D6"/>
                </a:solidFill>
                <a:latin typeface="Inter"/>
              </a:rPr>
              <a:t>Agent 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1280160"/>
            <a:ext cx="1463040" cy="640080"/>
          </a:xfrm>
          <a:prstGeom prst="roundRect">
            <a:avLst/>
          </a:prstGeom>
          <a:solidFill>
            <a:srgbClr val="0B1E3A"/>
          </a:solidFill>
          <a:ln w="12700">
            <a:solidFill>
              <a:srgbClr val="2E6B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8727" y="1280160"/>
            <a:ext cx="146304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AB5D6"/>
                </a:solidFill>
                <a:latin typeface="Inter"/>
              </a:rPr>
              <a:t>Agent D</a:t>
            </a:r>
          </a:p>
        </p:txBody>
      </p:sp>
      <p:sp>
        <p:nvSpPr>
          <p:cNvPr id="14" name="Diamond 13"/>
          <p:cNvSpPr/>
          <p:nvPr/>
        </p:nvSpPr>
        <p:spPr>
          <a:xfrm>
            <a:off x="4815687" y="2560320"/>
            <a:ext cx="228600" cy="228600"/>
          </a:xfrm>
          <a:prstGeom prst="diamond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7147407" y="2560320"/>
            <a:ext cx="228600" cy="228600"/>
          </a:xfrm>
          <a:prstGeom prst="diamond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5364327" y="1965960"/>
            <a:ext cx="228600" cy="228600"/>
          </a:xfrm>
          <a:prstGeom prst="diamond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6461607" y="1965960"/>
            <a:ext cx="228600" cy="228600"/>
          </a:xfrm>
          <a:prstGeom prst="diamond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18107" y="3931920"/>
            <a:ext cx="22860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18107" y="3931920"/>
            <a:ext cx="73152" cy="10515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82699" y="402336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2E8F0"/>
                </a:solidFill>
                <a:latin typeface="Inter"/>
              </a:rPr>
              <a:t>Secrets in commits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2699" y="4343400"/>
            <a:ext cx="20116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Credentials exposed
in git history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41267" y="3931920"/>
            <a:ext cx="22860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1267" y="3931920"/>
            <a:ext cx="73152" cy="10515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05859" y="402336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2E8F0"/>
                </a:solidFill>
                <a:latin typeface="Inter"/>
              </a:rPr>
              <a:t>Quality gates bypassed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05859" y="4343400"/>
            <a:ext cx="20116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No local enforcement;
tests and lint ignored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64427" y="3931920"/>
            <a:ext cx="22860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64427" y="3931920"/>
            <a:ext cx="73152" cy="10515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9019" y="402336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2E8F0"/>
                </a:solidFill>
                <a:latin typeface="Inter"/>
              </a:rPr>
              <a:t>Architectural drift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9019" y="4343400"/>
            <a:ext cx="20116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Each agent makes
different decisions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87587" y="3931920"/>
            <a:ext cx="22860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87587" y="3931920"/>
            <a:ext cx="73152" cy="10515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52179" y="402336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2E8F0"/>
                </a:solidFill>
                <a:latin typeface="Inter"/>
              </a:rPr>
              <a:t>Repeated decisions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52179" y="4343400"/>
            <a:ext cx="20116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No memory between
AI sessions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82699" y="516636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F4444"/>
                </a:solidFill>
                <a:latin typeface="Inter"/>
              </a:rPr>
              <a:t>→ Compliance gaps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05859" y="516636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F4444"/>
                </a:solidFill>
                <a:latin typeface="Inter"/>
              </a:rPr>
              <a:t>→ Security exposure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9019" y="516636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F4444"/>
                </a:solidFill>
                <a:latin typeface="Inter"/>
              </a:rPr>
              <a:t>→ Quality degradation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52179" y="516636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F4444"/>
                </a:solidFill>
                <a:latin typeface="Inter"/>
              </a:rPr>
              <a:t>→ Knowledge loss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548640"/>
            <a:ext cx="9997135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85800"/>
            <a:ext cx="9997135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JetBrains Mono"/>
              </a:rPr>
              <a:t>The Journey: 5 Rewrites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011680"/>
            <a:ext cx="2560320" cy="640080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05740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SpecKit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33172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Specs without enforcement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834640"/>
            <a:ext cx="2560320" cy="640080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88036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BMAD 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5468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Multi-agent, heavyweight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657600"/>
            <a:ext cx="2560320" cy="640080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70332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GSD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97764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Pragmatic, no governance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480560"/>
            <a:ext cx="2560320" cy="640080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452628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OpenSpec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80060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Standard without tooling</a:t>
            </a:r>
          </a:p>
        </p:txBody>
      </p:sp>
      <p:sp>
        <p:nvSpPr>
          <p:cNvPr id="16" name="16-Point Star 15"/>
          <p:cNvSpPr/>
          <p:nvPr/>
        </p:nvSpPr>
        <p:spPr>
          <a:xfrm>
            <a:off x="4023360" y="2743200"/>
            <a:ext cx="1828800" cy="1371600"/>
          </a:xfrm>
          <a:prstGeom prst="star16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3017520"/>
            <a:ext cx="1463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1120"/>
                </a:solidFill>
                <a:latin typeface="Inter"/>
              </a:rPr>
              <a:t>5
iterations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68880"/>
            <a:ext cx="3474720" cy="1920240"/>
          </a:xfrm>
          <a:prstGeom prst="rect">
            <a:avLst/>
          </a:prstGeom>
          <a:solidFill>
            <a:srgbClr val="1E293B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606040"/>
            <a:ext cx="3108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2E8F0"/>
                </a:solidFill>
                <a:latin typeface="Inter"/>
              </a:rPr>
              <a:t>ai-engineering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3017520"/>
            <a:ext cx="18288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3154680"/>
            <a:ext cx="3017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AFB"/>
                </a:solidFill>
                <a:latin typeface="Inter"/>
              </a:rPr>
              <a:t>→  Content-first governance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429000"/>
            <a:ext cx="3017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AFB"/>
                </a:solidFill>
                <a:latin typeface="Inter"/>
              </a:rPr>
              <a:t>→  Simple to adopt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703320"/>
            <a:ext cx="3017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AFB"/>
                </a:solidFill>
                <a:latin typeface="Inter"/>
              </a:rPr>
              <a:t>→  Strict for enforcement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977640"/>
            <a:ext cx="3017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AFB"/>
                </a:solidFill>
                <a:latin typeface="Inter"/>
              </a:rPr>
              <a:t>→  Flexible to scale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548640"/>
            <a:ext cx="9997135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85800"/>
            <a:ext cx="9997135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JetBrains Mono"/>
              </a:rPr>
              <a:t>What is ai-engineering?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64748B"/>
                </a:solidFill>
                <a:latin typeface="Inter"/>
              </a:rPr>
              <a:t>Content framework — not a platform, not a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011680"/>
            <a:ext cx="2743200" cy="502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2743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B1120"/>
                </a:solidFill>
                <a:latin typeface="Inter"/>
              </a:rPr>
              <a:t>.ai-engineering/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834640"/>
            <a:ext cx="1828800" cy="9144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907792"/>
            <a:ext cx="16459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D4AA"/>
                </a:solidFill>
                <a:latin typeface="Inter"/>
              </a:rPr>
              <a:t>standards/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200400"/>
            <a:ext cx="16459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Framework and
team rules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2834640"/>
            <a:ext cx="1828800" cy="9144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2907792"/>
            <a:ext cx="16459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D4AA"/>
                </a:solidFill>
                <a:latin typeface="Inter"/>
              </a:rPr>
              <a:t>skills/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3200400"/>
            <a:ext cx="16459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31 procedures
in 7 categories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834640"/>
            <a:ext cx="1828800" cy="9144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907792"/>
            <a:ext cx="16459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D4AA"/>
                </a:solidFill>
                <a:latin typeface="Inter"/>
              </a:rPr>
              <a:t>agents/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200400"/>
            <a:ext cx="16459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8 specialized
personas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2834640"/>
            <a:ext cx="1828800" cy="9144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2907792"/>
            <a:ext cx="16459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D4AA"/>
                </a:solidFill>
                <a:latin typeface="Inter"/>
              </a:rPr>
              <a:t>context/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3200400"/>
            <a:ext cx="16459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Specs, contracts,
learnings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2834640"/>
            <a:ext cx="1828800" cy="9144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2907792"/>
            <a:ext cx="16459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D4AA"/>
                </a:solidFill>
                <a:latin typeface="Inter"/>
              </a:rPr>
              <a:t>state/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3200400"/>
            <a:ext cx="16459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Decision store,
audit log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" y="4114800"/>
            <a:ext cx="5943600" cy="5029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80160" y="4114800"/>
            <a:ext cx="557784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2E8F0"/>
                </a:solidFill>
                <a:latin typeface="Inter"/>
              </a:rPr>
              <a:t>$ ai-eng install  |  update  |  doctor  |  validate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3657600"/>
            <a:ext cx="320040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24928" y="37033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2E8F0"/>
                </a:solidFill>
                <a:latin typeface="Inter"/>
              </a:rPr>
              <a:t>Claude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703320"/>
            <a:ext cx="1737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CLAUDE.md
37 slash commands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4389120"/>
            <a:ext cx="320040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24928" y="443484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2E8F0"/>
                </a:solidFill>
                <a:latin typeface="Inter"/>
              </a:rPr>
              <a:t>GitHub Copilot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4434840"/>
            <a:ext cx="1737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copilot-instructions.md
.github/copilot/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5120640"/>
            <a:ext cx="320040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24928" y="516636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2E8F0"/>
                </a:solidFill>
                <a:latin typeface="Inter"/>
              </a:rPr>
              <a:t>OpenAI Codex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5166360"/>
            <a:ext cx="1737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codex.md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548640"/>
            <a:ext cx="9997135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85800"/>
            <a:ext cx="9997135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JetBrains Mono"/>
              </a:rPr>
              <a:t>Developer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64748B"/>
                </a:solidFill>
                <a:latin typeface="Inter"/>
              </a:rPr>
              <a:t>From install to governed commit in &lt; 5 minutes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23847" y="2103120"/>
            <a:ext cx="146304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23847" y="2103120"/>
            <a:ext cx="146304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8FAFB"/>
                </a:solidFill>
                <a:latin typeface="Inter"/>
              </a:rPr>
              <a:t>ai-eng
install .</a:t>
            </a:r>
          </a:p>
        </p:txBody>
      </p:sp>
      <p:sp>
        <p:nvSpPr>
          <p:cNvPr id="7" name="Up Arrow Callout 6"/>
          <p:cNvSpPr/>
          <p:nvPr/>
        </p:nvSpPr>
        <p:spPr>
          <a:xfrm>
            <a:off x="3032607" y="2377440"/>
            <a:ext cx="365760" cy="365760"/>
          </a:xfrm>
          <a:prstGeom prst="upArrowCallou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44087" y="2103120"/>
            <a:ext cx="146304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E6B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44087" y="2103120"/>
            <a:ext cx="146304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8FAFB"/>
                </a:solidFill>
                <a:latin typeface="Inter"/>
              </a:rPr>
              <a:t>Code
+ AI Assist</a:t>
            </a:r>
          </a:p>
        </p:txBody>
      </p:sp>
      <p:sp>
        <p:nvSpPr>
          <p:cNvPr id="10" name="Up Arrow Callout 9"/>
          <p:cNvSpPr/>
          <p:nvPr/>
        </p:nvSpPr>
        <p:spPr>
          <a:xfrm>
            <a:off x="4952847" y="2377440"/>
            <a:ext cx="365760" cy="365760"/>
          </a:xfrm>
          <a:prstGeom prst="upArrowCallou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364327" y="2103120"/>
            <a:ext cx="146304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4327" y="2103120"/>
            <a:ext cx="146304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8FAFB"/>
                </a:solidFill>
                <a:latin typeface="Inter"/>
              </a:rPr>
              <a:t>Pre-
commit</a:t>
            </a:r>
          </a:p>
        </p:txBody>
      </p:sp>
      <p:sp>
        <p:nvSpPr>
          <p:cNvPr id="13" name="Up Arrow Callout 12"/>
          <p:cNvSpPr/>
          <p:nvPr/>
        </p:nvSpPr>
        <p:spPr>
          <a:xfrm>
            <a:off x="6873087" y="2377440"/>
            <a:ext cx="365760" cy="365760"/>
          </a:xfrm>
          <a:prstGeom prst="upArrowCallou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84567" y="2103120"/>
            <a:ext cx="146304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84567" y="2103120"/>
            <a:ext cx="146304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8FAFB"/>
                </a:solidFill>
                <a:latin typeface="Inter"/>
              </a:rPr>
              <a:t>Commit-
msg</a:t>
            </a:r>
          </a:p>
        </p:txBody>
      </p:sp>
      <p:sp>
        <p:nvSpPr>
          <p:cNvPr id="16" name="Up Arrow Callout 15"/>
          <p:cNvSpPr/>
          <p:nvPr/>
        </p:nvSpPr>
        <p:spPr>
          <a:xfrm>
            <a:off x="8793327" y="2377440"/>
            <a:ext cx="365760" cy="365760"/>
          </a:xfrm>
          <a:prstGeom prst="upArrowCallou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04807" y="2103120"/>
            <a:ext cx="146304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04807" y="2103120"/>
            <a:ext cx="146304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8FAFB"/>
                </a:solidFill>
                <a:latin typeface="Inter"/>
              </a:rPr>
              <a:t>Pre-
push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32407" y="3657600"/>
            <a:ext cx="292608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432407" y="3657600"/>
            <a:ext cx="73152" cy="11887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96999" y="3749040"/>
            <a:ext cx="26517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Pre-commit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96999" y="4069080"/>
            <a:ext cx="265176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ruff format + lint
gitleaks secrets</a:t>
            </a:r>
          </a:p>
        </p:txBody>
      </p:sp>
      <p:sp>
        <p:nvSpPr>
          <p:cNvPr id="23" name="Oval 22"/>
          <p:cNvSpPr/>
          <p:nvPr/>
        </p:nvSpPr>
        <p:spPr>
          <a:xfrm>
            <a:off x="3901287" y="3749040"/>
            <a:ext cx="274320" cy="2743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01287" y="3749040"/>
            <a:ext cx="274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2807" y="3657600"/>
            <a:ext cx="292608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2807" y="3657600"/>
            <a:ext cx="731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97399" y="3749040"/>
            <a:ext cx="26517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Commit-msg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97399" y="4069080"/>
            <a:ext cx="265176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Valid format
Branch protection</a:t>
            </a:r>
          </a:p>
        </p:txBody>
      </p:sp>
      <p:sp>
        <p:nvSpPr>
          <p:cNvPr id="29" name="Oval 28"/>
          <p:cNvSpPr/>
          <p:nvPr/>
        </p:nvSpPr>
        <p:spPr>
          <a:xfrm>
            <a:off x="7101687" y="3749040"/>
            <a:ext cx="274320" cy="2743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01687" y="3749040"/>
            <a:ext cx="274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33207" y="3657600"/>
            <a:ext cx="292608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833207" y="3657600"/>
            <a:ext cx="73152" cy="1188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7799" y="3749040"/>
            <a:ext cx="26517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Pre-push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7799" y="4069080"/>
            <a:ext cx="265176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semgrep SAST/OWASP
pip-audit + pytest + ty</a:t>
            </a:r>
          </a:p>
        </p:txBody>
      </p:sp>
      <p:sp>
        <p:nvSpPr>
          <p:cNvPr id="35" name="Oval 34"/>
          <p:cNvSpPr/>
          <p:nvPr/>
        </p:nvSpPr>
        <p:spPr>
          <a:xfrm>
            <a:off x="10302087" y="3749040"/>
            <a:ext cx="274320" cy="2743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302087" y="3749040"/>
            <a:ext cx="274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5212080"/>
            <a:ext cx="9997135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F4444"/>
                </a:solidFill>
                <a:latin typeface="Inter"/>
              </a:rPr>
              <a:t>If any gate fails → the push is blocked. No bypass. No --no-verify.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548640"/>
            <a:ext cx="9997135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85800"/>
            <a:ext cx="9997135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JetBrains Mono"/>
              </a:rPr>
              <a:t>Ownership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64748B"/>
                </a:solidFill>
                <a:latin typeface="Inter"/>
              </a:rPr>
              <a:t>Four boundaries, non-negotiable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011680"/>
            <a:ext cx="9997135" cy="960120"/>
          </a:xfrm>
          <a:prstGeom prst="rect">
            <a:avLst/>
          </a:prstGeom>
          <a:solidFill>
            <a:srgbClr val="1E293B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011680"/>
            <a:ext cx="91440" cy="9601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2148840"/>
            <a:ext cx="457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0D4AA"/>
                </a:solidFill>
                <a:latin typeface="Inter"/>
              </a:rPr>
              <a:t>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103120"/>
            <a:ext cx="2743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2E8F0"/>
                </a:solidFill>
                <a:latin typeface="Inter"/>
              </a:rPr>
              <a:t>Framework-managed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514600"/>
            <a:ext cx="3200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Inter"/>
              </a:rPr>
              <a:t>standards/, skills/, agents/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2194560"/>
            <a:ext cx="5029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8FAFB"/>
                </a:solidFill>
                <a:latin typeface="Inter"/>
              </a:rPr>
              <a:t>Updatable with ai-eng update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108960"/>
            <a:ext cx="9997135" cy="960120"/>
          </a:xfrm>
          <a:prstGeom prst="rect">
            <a:avLst/>
          </a:prstGeom>
          <a:solidFill>
            <a:srgbClr val="1E293B"/>
          </a:solidFill>
          <a:ln w="25400">
            <a:solidFill>
              <a:srgbClr val="2E6B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97280" y="3108960"/>
            <a:ext cx="91440" cy="960120"/>
          </a:xfrm>
          <a:prstGeom prst="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46120"/>
            <a:ext cx="457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2E6BA4"/>
                </a:solidFill>
                <a:latin typeface="Inter"/>
              </a:rPr>
              <a:t>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00400"/>
            <a:ext cx="2743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2E8F0"/>
                </a:solidFill>
                <a:latin typeface="Inter"/>
              </a:rPr>
              <a:t>Team-managed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611880"/>
            <a:ext cx="3200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Inter"/>
              </a:rPr>
              <a:t>standards/team/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291840"/>
            <a:ext cx="5029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8FAFB"/>
                </a:solidFill>
                <a:latin typeface="Inter"/>
              </a:rPr>
              <a:t>NEVER overwritten by updates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206240"/>
            <a:ext cx="9997135" cy="960120"/>
          </a:xfrm>
          <a:prstGeom prst="rect">
            <a:avLst/>
          </a:prstGeom>
          <a:solidFill>
            <a:srgbClr val="1E293B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4206240"/>
            <a:ext cx="91440" cy="9601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4343400"/>
            <a:ext cx="457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0D4AA"/>
                </a:solidFill>
                <a:latin typeface="Inter"/>
              </a:rPr>
              <a:t>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297680"/>
            <a:ext cx="2743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2E8F0"/>
                </a:solidFill>
                <a:latin typeface="Inter"/>
              </a:rPr>
              <a:t>Project-managed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709160"/>
            <a:ext cx="3200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Inter"/>
              </a:rPr>
              <a:t>context/, specs, learnings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4389120"/>
            <a:ext cx="5029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8FAFB"/>
                </a:solidFill>
                <a:latin typeface="Inter"/>
              </a:rPr>
              <a:t>NEVER overwritten — institutional memory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5303520"/>
            <a:ext cx="9997135" cy="960120"/>
          </a:xfrm>
          <a:prstGeom prst="rect">
            <a:avLst/>
          </a:prstGeom>
          <a:solidFill>
            <a:srgbClr val="1E293B"/>
          </a:solidFill>
          <a:ln w="25400">
            <a:solidFill>
              <a:srgbClr val="7B3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" y="5303520"/>
            <a:ext cx="91440" cy="960120"/>
          </a:xfrm>
          <a:prstGeom prst="rect">
            <a:avLst/>
          </a:prstGeom>
          <a:solidFill>
            <a:srgbClr val="7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5880" y="5440680"/>
            <a:ext cx="457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7B3FA0"/>
                </a:solidFill>
                <a:latin typeface="Inter"/>
              </a:rPr>
              <a:t>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394960"/>
            <a:ext cx="2743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2E8F0"/>
                </a:solidFill>
                <a:latin typeface="Inter"/>
              </a:rPr>
              <a:t>System-managed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806440"/>
            <a:ext cx="3200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Inter"/>
              </a:rPr>
              <a:t>state/ — runtime files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5486400"/>
            <a:ext cx="5029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8FAFB"/>
                </a:solidFill>
                <a:latin typeface="Inter"/>
              </a:rPr>
              <a:t>Maintained automatically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548640"/>
            <a:ext cx="9997135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85800"/>
            <a:ext cx="9997135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JetBrains Mono"/>
              </a:rPr>
              <a:t>Skills: 31 Reusable Procedures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49527" y="1920240"/>
            <a:ext cx="228600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49527" y="1920240"/>
            <a:ext cx="54864" cy="1645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4119" y="201168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Workflows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4119" y="2286000"/>
            <a:ext cx="5486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0D4AA"/>
                </a:solidFill>
                <a:latin typeface="Inter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1047" y="2377440"/>
            <a:ext cx="1371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nter"/>
              </a:rPr>
              <a:t>skills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4119" y="2880360"/>
            <a:ext cx="20116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commit, PR, acho,
pre-implementation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18407" y="1920240"/>
            <a:ext cx="228600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18407" y="1920240"/>
            <a:ext cx="54864" cy="1645920"/>
          </a:xfrm>
          <a:prstGeom prst="rect">
            <a:avLst/>
          </a:prstGeom>
          <a:solidFill>
            <a:srgbClr val="2E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82999" y="201168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Dev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2999" y="2286000"/>
            <a:ext cx="5486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2E6BA4"/>
                </a:solidFill>
                <a:latin typeface="Inter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9927" y="2377440"/>
            <a:ext cx="1371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nter"/>
              </a:rPr>
              <a:t>skills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2999" y="2880360"/>
            <a:ext cx="20116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debug, refactor, code-review,
test, migration, deps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1920240"/>
            <a:ext cx="228600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1920240"/>
            <a:ext cx="54864" cy="1645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1879" y="201168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1879" y="2286000"/>
            <a:ext cx="5486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0D4AA"/>
                </a:solidFill>
                <a:latin typeface="Inter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18807" y="2377440"/>
            <a:ext cx="1371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nter"/>
              </a:rPr>
              <a:t>skills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1879" y="2880360"/>
            <a:ext cx="20116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architecture, performance,
security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56167" y="1920240"/>
            <a:ext cx="228600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56167" y="1920240"/>
            <a:ext cx="54864" cy="1645920"/>
          </a:xfrm>
          <a:prstGeom prst="rect">
            <a:avLst/>
          </a:prstGeom>
          <a:solidFill>
            <a:srgbClr val="7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20759" y="201168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Docs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0759" y="2286000"/>
            <a:ext cx="5486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7B3FA0"/>
                </a:solidFill>
                <a:latin typeface="Inter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87687" y="2377440"/>
            <a:ext cx="1371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nter"/>
              </a:rPr>
              <a:t>skills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0759" y="2880360"/>
            <a:ext cx="20116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changelog, explain,
writer, prompt-design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483967" y="3794760"/>
            <a:ext cx="228600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483967" y="3794760"/>
            <a:ext cx="54864" cy="16459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48559" y="388620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Govern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48559" y="4160520"/>
            <a:ext cx="5486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E3A5F"/>
                </a:solidFill>
                <a:latin typeface="Inter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15487" y="4251960"/>
            <a:ext cx="1371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nter"/>
              </a:rPr>
              <a:t>skills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48559" y="4754880"/>
            <a:ext cx="20116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create/delete specs, skills,
agents + risk lifecycle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52847" y="3794760"/>
            <a:ext cx="228600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52847" y="3794760"/>
            <a:ext cx="54864" cy="1645920"/>
          </a:xfrm>
          <a:prstGeom prst="rect">
            <a:avLst/>
          </a:prstGeom>
          <a:solidFill>
            <a:srgbClr val="007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17439" y="388620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Quality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17439" y="4160520"/>
            <a:ext cx="5486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07A62"/>
                </a:solidFill>
                <a:latin typeface="Inter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84367" y="4251960"/>
            <a:ext cx="1371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nter"/>
              </a:rPr>
              <a:t>skills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17439" y="4754880"/>
            <a:ext cx="20116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audit-code, audit-report,
install-check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21727" y="3794760"/>
            <a:ext cx="228600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21727" y="3794760"/>
            <a:ext cx="54864" cy="1645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86319" y="388620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Utils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6319" y="4160520"/>
            <a:ext cx="5486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A3A5C"/>
                </a:solidFill>
                <a:latin typeface="Inter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53247" y="4251960"/>
            <a:ext cx="1371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nter"/>
              </a:rPr>
              <a:t>skills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6319" y="4754880"/>
            <a:ext cx="20116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git-helpers, platform-detect,
python-patterns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5943600"/>
            <a:ext cx="999713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Inter"/>
              </a:rPr>
              <a:t>They are NOT code — they are behavior specifications. Any AI agent reads and executes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548640"/>
            <a:ext cx="9997135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85800"/>
            <a:ext cx="9997135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JetBrains Mono"/>
              </a:rPr>
              <a:t>Agents: 8 Specialized Personas</a:t>
            </a:r>
          </a:p>
        </p:txBody>
      </p:sp>
      <p:sp>
        <p:nvSpPr>
          <p:cNvPr id="4" name="Oval 3"/>
          <p:cNvSpPr/>
          <p:nvPr/>
        </p:nvSpPr>
        <p:spPr>
          <a:xfrm>
            <a:off x="5547207" y="3291840"/>
            <a:ext cx="1097280" cy="10972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547207" y="3291840"/>
            <a:ext cx="1097280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1120"/>
                </a:solidFill>
                <a:latin typeface="Inter"/>
              </a:rPr>
              <a:t>ai-eng
hub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847" y="3840480"/>
            <a:ext cx="18288" cy="182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4327" y="1143000"/>
            <a:ext cx="146304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437479" y="1216152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37479" y="1216152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D4AA"/>
                </a:solidFill>
                <a:latin typeface="Inter"/>
              </a:rPr>
              <a:t>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1527" y="1188720"/>
            <a:ext cx="914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2E8F0"/>
                </a:solidFill>
                <a:latin typeface="Inter"/>
              </a:rPr>
              <a:t>Principal
Engineer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37479" y="1737360"/>
            <a:ext cx="1316736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Inter"/>
              </a:rPr>
              <a:t>Senior code review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3840480"/>
            <a:ext cx="18288" cy="182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12538" y="1785771"/>
            <a:ext cx="146304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85690" y="1858923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85690" y="1858923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D4AA"/>
                </a:solidFill>
                <a:latin typeface="Inter"/>
              </a:rPr>
              <a:t>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69738" y="1831491"/>
            <a:ext cx="914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2E8F0"/>
                </a:solidFill>
                <a:latin typeface="Inter"/>
              </a:rPr>
              <a:t>Architect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5690" y="2380131"/>
            <a:ext cx="1316736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Inter"/>
              </a:rPr>
              <a:t>Architectural analysis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5847" y="3840480"/>
            <a:ext cx="18288" cy="182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69767" y="3337559"/>
            <a:ext cx="146304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242919" y="3410711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42919" y="3410711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D4AA"/>
                </a:solidFill>
                <a:latin typeface="Inter"/>
              </a:rPr>
              <a:t>SR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26967" y="3383279"/>
            <a:ext cx="914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2E8F0"/>
                </a:solidFill>
                <a:latin typeface="Inter"/>
              </a:rPr>
              <a:t>Security
Reviewer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2919" y="3931919"/>
            <a:ext cx="1316736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Inter"/>
              </a:rPr>
              <a:t>Security assessment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5847" y="3840480"/>
            <a:ext cx="18288" cy="182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812538" y="4889348"/>
            <a:ext cx="146304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85690" y="4962500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85690" y="496250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D4AA"/>
                </a:solidFill>
                <a:latin typeface="Inter"/>
              </a:rPr>
              <a:t>DB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69738" y="4935068"/>
            <a:ext cx="914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2E8F0"/>
                </a:solidFill>
                <a:latin typeface="Inter"/>
              </a:rPr>
              <a:t>Debugger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5690" y="5483708"/>
            <a:ext cx="1316736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Inter"/>
              </a:rPr>
              <a:t>Systematic diagnosis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5847" y="3840480"/>
            <a:ext cx="18288" cy="182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64327" y="5532120"/>
            <a:ext cx="146304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437479" y="5605272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37479" y="5605272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D4AA"/>
                </a:solidFill>
                <a:latin typeface="Inter"/>
              </a:rPr>
              <a:t>QA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21527" y="5577840"/>
            <a:ext cx="914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2E8F0"/>
                </a:solidFill>
                <a:latin typeface="Inter"/>
              </a:rPr>
              <a:t>Quality
Auditor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37479" y="6126480"/>
            <a:ext cx="1316736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Inter"/>
              </a:rPr>
              <a:t>Quality gates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5847" y="3840480"/>
            <a:ext cx="18288" cy="182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16115" y="4889348"/>
            <a:ext cx="146304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989267" y="4962500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89267" y="496250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D4AA"/>
                </a:solidFill>
                <a:latin typeface="Inter"/>
              </a:rPr>
              <a:t>VA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73315" y="4935068"/>
            <a:ext cx="914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2E8F0"/>
                </a:solidFill>
                <a:latin typeface="Inter"/>
              </a:rPr>
              <a:t>Verify
App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89267" y="5483708"/>
            <a:ext cx="1316736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Inter"/>
              </a:rPr>
              <a:t>E2E verification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5847" y="3840480"/>
            <a:ext cx="18288" cy="182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558887" y="3337560"/>
            <a:ext cx="146304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632039" y="3410712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32039" y="3410712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D4AA"/>
                </a:solidFill>
                <a:latin typeface="Inter"/>
              </a:rPr>
              <a:t>CM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6087" y="3383280"/>
            <a:ext cx="914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2E8F0"/>
                </a:solidFill>
                <a:latin typeface="Inter"/>
              </a:rPr>
              <a:t>Codebase
Mapper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2039" y="3931920"/>
            <a:ext cx="1316736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Inter"/>
              </a:rPr>
              <a:t>Structure mapping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5847" y="3840480"/>
            <a:ext cx="18288" cy="182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916115" y="1785771"/>
            <a:ext cx="146304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989267" y="1858923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89267" y="1858923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D4AA"/>
                </a:solidFill>
                <a:latin typeface="Inter"/>
              </a:rPr>
              <a:t>CS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73315" y="1831491"/>
            <a:ext cx="914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2E8F0"/>
                </a:solidFill>
                <a:latin typeface="Inter"/>
              </a:rPr>
              <a:t>Code
Simplifier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89267" y="2380131"/>
            <a:ext cx="1316736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Inter"/>
              </a:rPr>
              <a:t>Complexity reduction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548640"/>
            <a:ext cx="9997135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85800"/>
            <a:ext cx="9997135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JetBrains Mono"/>
              </a:rPr>
              <a:t>Spec-Driven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64748B"/>
                </a:solidFill>
                <a:latin typeface="Inter"/>
              </a:rPr>
              <a:t>4 documents, parallel execution, phase gates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86687" y="2103120"/>
            <a:ext cx="2011680" cy="1371600"/>
          </a:xfrm>
          <a:prstGeom prst="rect">
            <a:avLst/>
          </a:prstGeom>
          <a:solidFill>
            <a:srgbClr val="1E293B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86687" y="2103120"/>
            <a:ext cx="2011680" cy="365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6687" y="2103120"/>
            <a:ext cx="201168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1120"/>
                </a:solidFill>
                <a:latin typeface="Inter"/>
              </a:rPr>
              <a:t>WHAT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8127" y="2560320"/>
            <a:ext cx="1828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spec.md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8127" y="2926080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Requirements, scope,
acceptance</a:t>
            </a:r>
          </a:p>
        </p:txBody>
      </p:sp>
      <p:sp>
        <p:nvSpPr>
          <p:cNvPr id="10" name="Up Arrow Callout 9"/>
          <p:cNvSpPr/>
          <p:nvPr/>
        </p:nvSpPr>
        <p:spPr>
          <a:xfrm>
            <a:off x="3444087" y="2606040"/>
            <a:ext cx="365760" cy="365760"/>
          </a:xfrm>
          <a:prstGeom prst="upArrowCallou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55567" y="2103120"/>
            <a:ext cx="2011680" cy="1371600"/>
          </a:xfrm>
          <a:prstGeom prst="rect">
            <a:avLst/>
          </a:prstGeom>
          <a:solidFill>
            <a:srgbClr val="1E293B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55567" y="2103120"/>
            <a:ext cx="2011680" cy="365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55567" y="2103120"/>
            <a:ext cx="201168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1120"/>
                </a:solidFill>
                <a:latin typeface="Inter"/>
              </a:rPr>
              <a:t>HOW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7007" y="2560320"/>
            <a:ext cx="1828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plan.md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7007" y="2926080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Architecture,
trade-offs</a:t>
            </a:r>
          </a:p>
        </p:txBody>
      </p:sp>
      <p:sp>
        <p:nvSpPr>
          <p:cNvPr id="16" name="Up Arrow Callout 15"/>
          <p:cNvSpPr/>
          <p:nvPr/>
        </p:nvSpPr>
        <p:spPr>
          <a:xfrm>
            <a:off x="5912967" y="2606040"/>
            <a:ext cx="365760" cy="365760"/>
          </a:xfrm>
          <a:prstGeom prst="upArrowCallou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103120"/>
            <a:ext cx="2011680" cy="1371600"/>
          </a:xfrm>
          <a:prstGeom prst="rect">
            <a:avLst/>
          </a:prstGeom>
          <a:solidFill>
            <a:srgbClr val="1E293B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4447" y="2103120"/>
            <a:ext cx="2011680" cy="365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4447" y="2103120"/>
            <a:ext cx="201168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1120"/>
                </a:solidFill>
                <a:latin typeface="Inter"/>
              </a:rPr>
              <a:t>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7" y="2560320"/>
            <a:ext cx="1828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tasks.md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5887" y="2926080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Ordered tasks,
assignable</a:t>
            </a:r>
          </a:p>
        </p:txBody>
      </p:sp>
      <p:sp>
        <p:nvSpPr>
          <p:cNvPr id="22" name="Up Arrow Callout 21"/>
          <p:cNvSpPr/>
          <p:nvPr/>
        </p:nvSpPr>
        <p:spPr>
          <a:xfrm>
            <a:off x="8381847" y="2606040"/>
            <a:ext cx="365760" cy="365760"/>
          </a:xfrm>
          <a:prstGeom prst="upArrowCallou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93327" y="2103120"/>
            <a:ext cx="2011680" cy="1371600"/>
          </a:xfrm>
          <a:prstGeom prst="rect">
            <a:avLst/>
          </a:prstGeom>
          <a:solidFill>
            <a:srgbClr val="1E293B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93327" y="2103120"/>
            <a:ext cx="2011680" cy="365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93327" y="2103120"/>
            <a:ext cx="201168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1120"/>
                </a:solidFill>
                <a:latin typeface="Inter"/>
              </a:rPr>
              <a:t>DONE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4767" y="2560320"/>
            <a:ext cx="1828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done.md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84767" y="2926080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Completion,
learnings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86687" y="3840480"/>
            <a:ext cx="9418320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86687" y="3840480"/>
            <a:ext cx="941832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AFB"/>
                </a:solidFill>
                <a:latin typeface="Inter"/>
              </a:rPr>
              <a:t>PHASE GATES  ·  Each phase passes a gate before the next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69567" y="4663440"/>
            <a:ext cx="2926080" cy="365760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61007" y="4663440"/>
            <a:ext cx="9144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2E8F0"/>
                </a:solidFill>
                <a:latin typeface="Inter"/>
              </a:rPr>
              <a:t>Agent 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75407" y="4663440"/>
            <a:ext cx="18288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feat/spec-NNN-phase1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2807" y="4663440"/>
            <a:ext cx="2926080" cy="365760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24247" y="4663440"/>
            <a:ext cx="9144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2E8F0"/>
                </a:solidFill>
                <a:latin typeface="Inter"/>
              </a:rPr>
              <a:t>Agent 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38647" y="4663440"/>
            <a:ext cx="18288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feat/spec-NNN-phase2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96047" y="4663440"/>
            <a:ext cx="2926080" cy="365760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87487" y="4663440"/>
            <a:ext cx="9144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2E8F0"/>
                </a:solidFill>
                <a:latin typeface="Inter"/>
              </a:rPr>
              <a:t>Agent 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01887" y="4663440"/>
            <a:ext cx="18288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feat/spec-NNN-phase3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5303520"/>
            <a:ext cx="9997135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AFB"/>
                </a:solidFill>
                <a:latin typeface="Inter"/>
              </a:rPr>
              <a:t>Format: spec-NNN: Task X.Y — description  →  Each commit traceable to spec + task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548640"/>
            <a:ext cx="9997135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85800"/>
            <a:ext cx="9997135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JetBrains Mono"/>
              </a:rPr>
              <a:t>State Management and Decision Continuity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457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0D4AA"/>
                </a:solidFill>
                <a:latin typeface="Inter"/>
              </a:rPr>
              <a:t>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965960"/>
            <a:ext cx="2560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install-manifest.json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240280"/>
            <a:ext cx="49377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Inter"/>
              </a:rPr>
              <a:t>What was installed, when, which version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70048"/>
            <a:ext cx="457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0D4AA"/>
                </a:solidFill>
                <a:latin typeface="Inter"/>
              </a:rPr>
              <a:t>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715768"/>
            <a:ext cx="2560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ownership-map.json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990088"/>
            <a:ext cx="49377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Inter"/>
              </a:rPr>
              <a:t>Who owns each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19856"/>
            <a:ext cx="457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0D4AA"/>
                </a:solidFill>
                <a:latin typeface="Inter"/>
              </a:rPr>
              <a:t>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465576"/>
            <a:ext cx="2560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sources.lock.json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739896"/>
            <a:ext cx="49377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Inter"/>
              </a:rPr>
              <a:t>Remote skills with verifiable checksums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169664"/>
            <a:ext cx="457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0D4AA"/>
                </a:solidFill>
                <a:latin typeface="Inter"/>
              </a:rPr>
              <a:t>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215384"/>
            <a:ext cx="2560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decision-store.json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489704"/>
            <a:ext cx="49377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Inter"/>
              </a:rPr>
              <a:t>10 real decisions with SHA-256 context hash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919472"/>
            <a:ext cx="457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0D4AA"/>
                </a:solidFill>
                <a:latin typeface="Inter"/>
              </a:rPr>
              <a:t>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965192"/>
            <a:ext cx="2560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audit-log.ndjson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5239512"/>
            <a:ext cx="49377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Inter"/>
              </a:rPr>
              <a:t>183 recorded events — append-only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920240"/>
            <a:ext cx="4114800" cy="3840480"/>
          </a:xfrm>
          <a:prstGeom prst="rect">
            <a:avLst/>
          </a:prstGeom>
          <a:solidFill>
            <a:srgbClr val="1E293B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2057400"/>
            <a:ext cx="37490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2E8F0"/>
                </a:solidFill>
                <a:latin typeface="Inter"/>
              </a:rPr>
              <a:t>Decision Continuity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0" y="2423160"/>
            <a:ext cx="22860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0" y="2606040"/>
            <a:ext cx="374904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8FAFB"/>
                </a:solidFill>
                <a:latin typeface="Inter"/>
              </a:rPr>
              <a:t>Agent A decides in session 1
  → generates SHA-256 context hash
Agent B arrives in session 5
  → reads decision store
  → does NOT ask again
Only re-prompt if:
  • expired
  • scope changed
  • severity changed
  • policy changed
  • context hash changed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548640"/>
            <a:ext cx="9997135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85800"/>
            <a:ext cx="9997135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JetBrains Mono"/>
              </a:rPr>
              <a:t>Quality Gates and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432407" y="1920240"/>
            <a:ext cx="2926080" cy="4114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32407" y="1920240"/>
            <a:ext cx="2926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1120"/>
                </a:solidFill>
                <a:latin typeface="Inter"/>
              </a:rPr>
              <a:t>Pre-commit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69567" y="2423160"/>
            <a:ext cx="26517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AFB"/>
                </a:solidFill>
                <a:latin typeface="Inter"/>
              </a:rPr>
              <a:t>✓  ruff format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69567" y="2743200"/>
            <a:ext cx="26517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AFB"/>
                </a:solidFill>
                <a:latin typeface="Inter"/>
              </a:rPr>
              <a:t>✓  ruff lint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69567" y="3063240"/>
            <a:ext cx="26517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AFB"/>
                </a:solidFill>
                <a:latin typeface="Inter"/>
              </a:rPr>
              <a:t>✓  gitleaks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1920240"/>
            <a:ext cx="292608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2807" y="1920240"/>
            <a:ext cx="2926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1120"/>
                </a:solidFill>
                <a:latin typeface="Inter"/>
              </a:rPr>
              <a:t>Commit-msg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9967" y="2423160"/>
            <a:ext cx="26517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AFB"/>
                </a:solidFill>
                <a:latin typeface="Inter"/>
              </a:rPr>
              <a:t>✓  Valid format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9967" y="2743200"/>
            <a:ext cx="26517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AFB"/>
                </a:solidFill>
                <a:latin typeface="Inter"/>
              </a:rPr>
              <a:t>✓  Branch protection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33207" y="1920240"/>
            <a:ext cx="2926080" cy="411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33207" y="1920240"/>
            <a:ext cx="2926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1120"/>
                </a:solidFill>
                <a:latin typeface="Inter"/>
              </a:rPr>
              <a:t>Pre-push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0367" y="2423160"/>
            <a:ext cx="26517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AFB"/>
                </a:solidFill>
                <a:latin typeface="Inter"/>
              </a:rPr>
              <a:t>✓  semgrep SAST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70367" y="2743200"/>
            <a:ext cx="26517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AFB"/>
                </a:solidFill>
                <a:latin typeface="Inter"/>
              </a:rPr>
              <a:t>✓  pip-audit CVE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0367" y="3063240"/>
            <a:ext cx="26517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AFB"/>
                </a:solidFill>
                <a:latin typeface="Inter"/>
              </a:rPr>
              <a:t>✓  pytest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0367" y="3383280"/>
            <a:ext cx="26517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AFB"/>
                </a:solidFill>
                <a:latin typeface="Inter"/>
              </a:rPr>
              <a:t>✓  ty types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15287" y="3931920"/>
            <a:ext cx="2103120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06727" y="4005072"/>
            <a:ext cx="1920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4748B"/>
                </a:solidFill>
                <a:latin typeface="Inter"/>
              </a:rPr>
              <a:t>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6727" y="4206240"/>
            <a:ext cx="19202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D4AA"/>
                </a:solidFill>
                <a:latin typeface="Inter"/>
              </a:rPr>
              <a:t>≥ 80%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6727" y="4498848"/>
            <a:ext cx="19202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Inter"/>
              </a:rPr>
              <a:t>(≥90% gov-critical)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01287" y="3931920"/>
            <a:ext cx="2103120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92727" y="4005072"/>
            <a:ext cx="1920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4748B"/>
                </a:solidFill>
                <a:latin typeface="Inter"/>
              </a:rPr>
              <a:t>Duplication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92727" y="4206240"/>
            <a:ext cx="19202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D4AA"/>
                </a:solidFill>
                <a:latin typeface="Inter"/>
              </a:rPr>
              <a:t>≤ 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7287" y="3931920"/>
            <a:ext cx="2103120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78727" y="4005072"/>
            <a:ext cx="1920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4748B"/>
                </a:solidFill>
                <a:latin typeface="Inter"/>
              </a:rPr>
              <a:t>Cyclomatic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8727" y="4206240"/>
            <a:ext cx="19202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D4AA"/>
                </a:solidFill>
                <a:latin typeface="Inter"/>
              </a:rPr>
              <a:t>≤ 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8727" y="4498848"/>
            <a:ext cx="19202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Inter"/>
              </a:rPr>
              <a:t>complexity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73287" y="3931920"/>
            <a:ext cx="2103120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64727" y="4005072"/>
            <a:ext cx="1920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4748B"/>
                </a:solidFill>
                <a:latin typeface="Inter"/>
              </a:rPr>
              <a:t>Cognitive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64727" y="4206240"/>
            <a:ext cx="19202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D4AA"/>
                </a:solidFill>
                <a:latin typeface="Inter"/>
              </a:rPr>
              <a:t>≤ 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64727" y="4498848"/>
            <a:ext cx="19202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Inter"/>
              </a:rPr>
              <a:t>complexity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15287" y="5120640"/>
            <a:ext cx="210312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15287" y="5120640"/>
            <a:ext cx="73152" cy="5943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79879" y="5166360"/>
            <a:ext cx="914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2E8F0"/>
                </a:solidFill>
                <a:latin typeface="Inter"/>
              </a:rPr>
              <a:t>Critical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79879" y="5413248"/>
            <a:ext cx="1828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Expiry: 15 days  ·  Max 2 renewals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01287" y="5120640"/>
            <a:ext cx="210312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901287" y="5120640"/>
            <a:ext cx="73152" cy="5943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65879" y="5166360"/>
            <a:ext cx="914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2E8F0"/>
                </a:solidFill>
                <a:latin typeface="Inter"/>
              </a:rPr>
              <a:t>High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65879" y="5413248"/>
            <a:ext cx="1828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Expiry: 30 days  ·  Max 2 renewals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87287" y="5120640"/>
            <a:ext cx="210312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87287" y="5120640"/>
            <a:ext cx="73152" cy="594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1879" y="5166360"/>
            <a:ext cx="914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2E8F0"/>
                </a:solidFill>
                <a:latin typeface="Inter"/>
              </a:rPr>
              <a:t>Medium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1879" y="5413248"/>
            <a:ext cx="1828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Expiry: 60 days  ·  Max 2 renewals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73287" y="5120640"/>
            <a:ext cx="210312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473287" y="5120640"/>
            <a:ext cx="73152" cy="5943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37879" y="5166360"/>
            <a:ext cx="914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2E8F0"/>
                </a:solidFill>
                <a:latin typeface="Inter"/>
              </a:rPr>
              <a:t>Low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37879" y="5413248"/>
            <a:ext cx="1828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Expiry: 90 days  ·  Max 2 renewals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548640"/>
            <a:ext cx="9997135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85800"/>
            <a:ext cx="9997135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JetBrains Mono"/>
              </a:rPr>
              <a:t>Value by Role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920240"/>
          <a:ext cx="999713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572000"/>
                <a:gridCol w="3413455"/>
              </a:tblGrid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B1120"/>
                          </a:solidFill>
                          <a:latin typeface="JetBrains Mono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D4A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B1120"/>
                          </a:solidFill>
                          <a:latin typeface="JetBrains Mono"/>
                        </a:rPr>
                        <a:t>Value</a:t>
                      </a:r>
                    </a:p>
                  </a:txBody>
                  <a:tcPr marL="73152" marR="73152" marT="36576" marB="36576">
                    <a:solidFill>
                      <a:srgbClr val="00D4A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B1120"/>
                          </a:solidFill>
                          <a:latin typeface="JetBrains Mono"/>
                        </a:rPr>
                        <a:t>Key Feature</a:t>
                      </a:r>
                    </a:p>
                  </a:txBody>
                  <a:tcPr marL="73152" marR="73152" marT="36576" marB="36576">
                    <a:solidFill>
                      <a:srgbClr val="00D4AA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E2E8F0"/>
                          </a:solidFill>
                          <a:latin typeface="Inter"/>
                        </a:rPr>
                        <a:t>Engineers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8FAFB"/>
                          </a:solidFill>
                          <a:latin typeface="Inter"/>
                        </a:rPr>
                        <a:t>Fast workflows — 37 slash commands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8FAFB"/>
                          </a:solidFill>
                          <a:latin typeface="Inter"/>
                        </a:rPr>
                        <a:t>Quality gates before push</a:t>
                      </a:r>
                    </a:p>
                  </a:txBody>
                  <a:tcPr marL="73152" marR="73152" marT="36576" marB="36576"/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E2E8F0"/>
                          </a:solidFill>
                          <a:latin typeface="Inter"/>
                        </a:rPr>
                        <a:t>Governance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8FAFB"/>
                          </a:solidFill>
                          <a:latin typeface="Inter"/>
                        </a:rPr>
                        <a:t>audit-log with 183 traceable events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8FAFB"/>
                          </a:solidFill>
                          <a:latin typeface="Inter"/>
                        </a:rPr>
                        <a:t>Decision store with 10 decisions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E2E8F0"/>
                          </a:solidFill>
                          <a:latin typeface="Inter"/>
                        </a:rPr>
                        <a:t>Security / AppSec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8FAFB"/>
                          </a:solidFill>
                          <a:latin typeface="Inter"/>
                        </a:rPr>
                        <a:t>gitleaks + semgrep + pip-audit on every push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8FAFB"/>
                          </a:solidFill>
                          <a:latin typeface="Inter"/>
                        </a:rPr>
                        <a:t>Risk acceptance with expiry</a:t>
                      </a:r>
                    </a:p>
                  </a:txBody>
                  <a:tcPr marL="73152" marR="73152" marT="36576" marB="36576"/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E2E8F0"/>
                          </a:solidFill>
                          <a:latin typeface="Inter"/>
                        </a:rPr>
                        <a:t>Quality / DevEx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8FAFB"/>
                          </a:solidFill>
                          <a:latin typeface="Inter"/>
                        </a:rPr>
                        <a:t>Sonar-like quality gates WITHOUT a server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8FAFB"/>
                          </a:solidFill>
                          <a:latin typeface="Inter"/>
                        </a:rPr>
                        <a:t>Setup in &lt; 5 minutes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E2E8F0"/>
                          </a:solidFill>
                          <a:latin typeface="Inter"/>
                        </a:rPr>
                        <a:t>Architecture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8FAFB"/>
                          </a:solidFill>
                          <a:latin typeface="Inter"/>
                        </a:rPr>
                        <a:t>Standards with layering and ownership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8FAFB"/>
                          </a:solidFill>
                          <a:latin typeface="Inter"/>
                        </a:rPr>
                        <a:t>Agent personas for consistent review</a:t>
                      </a:r>
                    </a:p>
                  </a:txBody>
                  <a:tcPr marL="73152" marR="73152" marT="36576" marB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548640"/>
            <a:ext cx="9997135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85800"/>
            <a:ext cx="9997135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JetBrains Mono"/>
              </a:rPr>
              <a:t>Business Case: ROI and Risk Reduction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249527" y="2103120"/>
            <a:ext cx="2286000" cy="274320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40967" y="2377440"/>
            <a:ext cx="21031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D4AA"/>
                </a:solidFill>
                <a:latin typeface="Inter"/>
              </a:rP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0967" y="3108960"/>
            <a:ext cx="2103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Inter"/>
              </a:rPr>
              <a:t>Gate Execution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615287" y="3520440"/>
            <a:ext cx="155448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86687" y="3703320"/>
            <a:ext cx="2011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0 ungated operations.
Full local enforcement.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718407" y="2103120"/>
            <a:ext cx="2286000" cy="274320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09847" y="2377440"/>
            <a:ext cx="21031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D4AA"/>
                </a:solidFill>
                <a:latin typeface="Inter"/>
              </a:rPr>
              <a:t>$0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9847" y="3108960"/>
            <a:ext cx="2103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Inter"/>
              </a:rPr>
              <a:t>License Cost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84167" y="3520440"/>
            <a:ext cx="155448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55567" y="3703320"/>
            <a:ext cx="2011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MIT open source.
No SonarQube, no additional CI.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2103120"/>
            <a:ext cx="2286000" cy="274320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8727" y="2377440"/>
            <a:ext cx="21031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D4AA"/>
                </a:solidFill>
                <a:latin typeface="Inter"/>
              </a:rPr>
              <a:t>&lt; 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3108960"/>
            <a:ext cx="2103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Inter"/>
              </a:rPr>
              <a:t>Time to Governed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53047" y="3520440"/>
            <a:ext cx="155448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4447" y="3703320"/>
            <a:ext cx="2011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From install to
first governed commit.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56167" y="2103120"/>
            <a:ext cx="2286000" cy="2743200"/>
          </a:xfrm>
          <a:prstGeom prst="rect">
            <a:avLst/>
          </a:prstGeom>
          <a:solidFill>
            <a:srgbClr val="1E293B"/>
          </a:solidFill>
          <a:ln w="12700">
            <a:solidFill>
              <a:srgbClr val="1A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47607" y="2377440"/>
            <a:ext cx="21031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D4AA"/>
                </a:solidFill>
                <a:latin typeface="Inter"/>
              </a:rPr>
              <a:t>SHA-256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47607" y="3108960"/>
            <a:ext cx="2103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Inter"/>
              </a:rPr>
              <a:t>Compliance Ready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1927" y="3520440"/>
            <a:ext cx="155448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93327" y="3703320"/>
            <a:ext cx="2011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Audit log + risk acceptance
+ decision store.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548640"/>
            <a:ext cx="9997135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85800"/>
            <a:ext cx="9997135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JetBrains Mono"/>
              </a:rPr>
              <a:t>Multi-IDE: One Framework, Every Provider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64748B"/>
                </a:solidFill>
                <a:latin typeface="Inter"/>
              </a:rPr>
              <a:t>No vendor lock-in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815687" y="3200400"/>
            <a:ext cx="2560320" cy="1097280"/>
          </a:xfrm>
          <a:prstGeom prst="rect">
            <a:avLst/>
          </a:prstGeom>
          <a:solidFill>
            <a:srgbClr val="1E293B"/>
          </a:solidFill>
          <a:ln w="381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15687" y="3200400"/>
            <a:ext cx="2560320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2E8F0"/>
                </a:solidFill>
                <a:latin typeface="Inter"/>
              </a:rPr>
              <a:t>.ai-engineering/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01168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084832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Claude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77440"/>
            <a:ext cx="22860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CLAUDE.md
37 slash commands
.claude/commands/</a:t>
            </a:r>
          </a:p>
        </p:txBody>
      </p:sp>
      <p:sp>
        <p:nvSpPr>
          <p:cNvPr id="10" name="Up Arrow Callout 9"/>
          <p:cNvSpPr/>
          <p:nvPr/>
        </p:nvSpPr>
        <p:spPr>
          <a:xfrm>
            <a:off x="3749040" y="2377440"/>
            <a:ext cx="975207" cy="274320"/>
          </a:xfrm>
          <a:prstGeom prst="upArrowCallou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" y="420624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279392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GitHub Copilot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572000"/>
            <a:ext cx="22860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copilot-instructions.md
.github/copilot/</a:t>
            </a:r>
          </a:p>
        </p:txBody>
      </p:sp>
      <p:sp>
        <p:nvSpPr>
          <p:cNvPr id="14" name="Up Arrow Callout 13"/>
          <p:cNvSpPr/>
          <p:nvPr/>
        </p:nvSpPr>
        <p:spPr>
          <a:xfrm>
            <a:off x="3749040" y="4572000"/>
            <a:ext cx="975207" cy="274320"/>
          </a:xfrm>
          <a:prstGeom prst="upArrowCallou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34095" y="201168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71255" y="2084832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OpenAI Codex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71255" y="2377440"/>
            <a:ext cx="22860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codex.md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67447" y="2487168"/>
            <a:ext cx="975208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34095" y="420624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71255" y="4279392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Inter"/>
              </a:rPr>
              <a:t>Terminal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71255" y="4572000"/>
            <a:ext cx="22860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ai-eng install
ai-eng doctor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67447" y="4681728"/>
            <a:ext cx="975208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548640"/>
            <a:ext cx="9997135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85800"/>
            <a:ext cx="9997135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JetBrains Mono"/>
              </a:rPr>
              <a:t>Why not AI with simple instructions?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0" y="1920240"/>
          <a:ext cx="73152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2560320"/>
              </a:tblGrid>
              <a:tr h="42672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0B1120"/>
                          </a:solidFill>
                          <a:latin typeface="JetBrains Mono"/>
                        </a:rPr>
                        <a:t>Capability</a:t>
                      </a:r>
                    </a:p>
                  </a:txBody>
                  <a:tcPr marL="73152" marR="73152" marT="36576" marB="36576">
                    <a:solidFill>
                      <a:srgbClr val="00D4A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0B1120"/>
                          </a:solidFill>
                          <a:latin typeface="JetBrains Mono"/>
                        </a:rPr>
                        <a:t>Plain AI</a:t>
                      </a:r>
                    </a:p>
                  </a:txBody>
                  <a:tcPr marL="73152" marR="73152" marT="36576" marB="36576">
                    <a:solidFill>
                      <a:srgbClr val="00D4A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0B1120"/>
                          </a:solidFill>
                          <a:latin typeface="JetBrains Mono"/>
                        </a:rPr>
                        <a:t>ai-engineering</a:t>
                      </a:r>
                    </a:p>
                  </a:txBody>
                  <a:tcPr marL="73152" marR="73152" marT="36576" marB="36576">
                    <a:solidFill>
                      <a:srgbClr val="00D4AA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B"/>
                          </a:solidFill>
                          <a:latin typeface="Inter"/>
                        </a:rPr>
                        <a:t>Local enforcement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94A3B8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00D4AA"/>
                          </a:solidFill>
                          <a:latin typeface="Inter"/>
                        </a:rPr>
                        <a:t>✓</a:t>
                      </a:r>
                    </a:p>
                  </a:txBody>
                  <a:tcPr marL="73152" marR="73152" marT="36576" marB="36576"/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B"/>
                          </a:solidFill>
                          <a:latin typeface="Inter"/>
                        </a:rPr>
                        <a:t>State / memory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94A3B8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00D4AA"/>
                          </a:solidFill>
                          <a:latin typeface="Inter"/>
                        </a:rPr>
                        <a:t>✓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B"/>
                          </a:solidFill>
                          <a:latin typeface="Inter"/>
                        </a:rPr>
                        <a:t>Ownership model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94A3B8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00D4AA"/>
                          </a:solidFill>
                          <a:latin typeface="Inter"/>
                        </a:rPr>
                        <a:t>✓</a:t>
                      </a:r>
                    </a:p>
                  </a:txBody>
                  <a:tcPr marL="73152" marR="73152" marT="36576" marB="36576"/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B"/>
                          </a:solidFill>
                          <a:latin typeface="Inter"/>
                        </a:rPr>
                        <a:t>Audit trail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94A3B8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00D4AA"/>
                          </a:solidFill>
                          <a:latin typeface="Inter"/>
                        </a:rPr>
                        <a:t>✓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B"/>
                          </a:solidFill>
                          <a:latin typeface="Inter"/>
                        </a:rPr>
                        <a:t>Security scanning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94A3B8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00D4AA"/>
                          </a:solidFill>
                          <a:latin typeface="Inter"/>
                        </a:rPr>
                        <a:t>✓</a:t>
                      </a:r>
                    </a:p>
                  </a:txBody>
                  <a:tcPr marL="73152" marR="73152" marT="36576" marB="36576"/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B"/>
                          </a:solidFill>
                          <a:latin typeface="Inter"/>
                        </a:rPr>
                        <a:t>Risk management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94A3B8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00D4AA"/>
                          </a:solidFill>
                          <a:latin typeface="Inter"/>
                        </a:rPr>
                        <a:t>✓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B"/>
                          </a:solidFill>
                          <a:latin typeface="Inter"/>
                        </a:rPr>
                        <a:t>Delivery lifecycle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94A3B8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00D4AA"/>
                          </a:solidFill>
                          <a:latin typeface="Inter"/>
                        </a:rPr>
                        <a:t>✓</a:t>
                      </a:r>
                    </a:p>
                  </a:txBody>
                  <a:tcPr marL="73152" marR="73152" marT="36576" marB="36576"/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B"/>
                          </a:solidFill>
                          <a:latin typeface="Inter"/>
                        </a:rPr>
                        <a:t>Cross-IDE governance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94A3B8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00D4AA"/>
                          </a:solidFill>
                          <a:latin typeface="Inter"/>
                        </a:rPr>
                        <a:t>✓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286000" y="5943600"/>
            <a:ext cx="7315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F4444"/>
                </a:solidFill>
                <a:latin typeface="Inter"/>
              </a:rPr>
              <a:t>Plain AI: 0/8 capabilities enforced    ·    ai-engineering: 8/8 capabilities enforced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548640"/>
            <a:ext cx="9997135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85800"/>
            <a:ext cx="9997135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JetBrains Mono"/>
              </a:rPr>
              <a:t>Comparison with Alternatives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64748B"/>
                </a:solidFill>
                <a:latin typeface="Inter"/>
              </a:rPr>
              <a:t>Scored comparison — 6 axes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2011680"/>
          <a:ext cx="9997135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597091"/>
                <a:gridCol w="1597091"/>
                <a:gridCol w="1597091"/>
                <a:gridCol w="1597091"/>
                <a:gridCol w="1597091"/>
              </a:tblGrid>
              <a:tr h="49638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E2E8F0"/>
                          </a:solidFill>
                          <a:latin typeface="JetBrains Mono"/>
                        </a:rPr>
                        <a:t>Axis</a:t>
                      </a:r>
                    </a:p>
                  </a:txBody>
                  <a:tcPr marL="73152" marR="73152" marT="36576" marB="36576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E2E8F0"/>
                          </a:solidFill>
                          <a:latin typeface="JetBrains Mono"/>
                        </a:rPr>
                        <a:t>SpecKit</a:t>
                      </a:r>
                    </a:p>
                  </a:txBody>
                  <a:tcPr marL="73152" marR="73152" marT="36576" marB="36576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E2E8F0"/>
                          </a:solidFill>
                          <a:latin typeface="JetBrains Mono"/>
                        </a:rPr>
                        <a:t>BMAD</a:t>
                      </a:r>
                    </a:p>
                  </a:txBody>
                  <a:tcPr marL="73152" marR="73152" marT="36576" marB="36576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E2E8F0"/>
                          </a:solidFill>
                          <a:latin typeface="JetBrains Mono"/>
                        </a:rPr>
                        <a:t>GSD</a:t>
                      </a:r>
                    </a:p>
                  </a:txBody>
                  <a:tcPr marL="73152" marR="73152" marT="36576" marB="36576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E2E8F0"/>
                          </a:solidFill>
                          <a:latin typeface="JetBrains Mono"/>
                        </a:rPr>
                        <a:t>OpenSpec</a:t>
                      </a:r>
                    </a:p>
                  </a:txBody>
                  <a:tcPr marL="73152" marR="73152" marT="36576" marB="36576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B1120"/>
                          </a:solidFill>
                          <a:latin typeface="JetBrains Mono"/>
                        </a:rPr>
                        <a:t>ai-eng</a:t>
                      </a:r>
                    </a:p>
                  </a:txBody>
                  <a:tcPr marL="73152" marR="73152" marT="36576" marB="36576">
                    <a:solidFill>
                      <a:srgbClr val="00D4AA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B"/>
                          </a:solidFill>
                          <a:latin typeface="Inter"/>
                        </a:rPr>
                        <a:t>Governance depth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2E8F0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2E8F0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0B1E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2E8F0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2E8F0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00D4AA"/>
                          </a:solidFill>
                          <a:latin typeface="Inter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0B2A22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B"/>
                          </a:solidFill>
                          <a:latin typeface="Inter"/>
                        </a:rPr>
                        <a:t>Enforcement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2E8F0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2E8F0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2E8F0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2E8F0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00D4AA"/>
                          </a:solidFill>
                          <a:latin typeface="Inter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0B2A22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B"/>
                          </a:solidFill>
                          <a:latin typeface="Inter"/>
                        </a:rPr>
                        <a:t>Practicality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2E8F0"/>
                          </a:solidFill>
                          <a:latin typeface="Inter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0B1E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2E8F0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2E8F0"/>
                          </a:solidFill>
                          <a:latin typeface="Inter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0B2A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2E8F0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00D4AA"/>
                          </a:solidFill>
                          <a:latin typeface="Inter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0B2A22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B"/>
                          </a:solidFill>
                          <a:latin typeface="Inter"/>
                        </a:rPr>
                        <a:t>Cross-IDE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2E8F0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2E8F0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2E8F0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2E8F0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0B1E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00D4AA"/>
                          </a:solidFill>
                          <a:latin typeface="Inter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0B2A22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B"/>
                          </a:solidFill>
                          <a:latin typeface="Inter"/>
                        </a:rPr>
                        <a:t>Risk lifecycle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2E8F0"/>
                          </a:solidFill>
                          <a:latin typeface="Inter"/>
                        </a:rPr>
                        <a:t>0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2E8F0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2E8F0"/>
                          </a:solidFill>
                          <a:latin typeface="Inter"/>
                        </a:rPr>
                        <a:t>0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2E8F0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00D4AA"/>
                          </a:solidFill>
                          <a:latin typeface="Inter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0B2A22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B"/>
                          </a:solidFill>
                          <a:latin typeface="Inter"/>
                        </a:rPr>
                        <a:t>State continuity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2E8F0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2E8F0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2E8F0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marT="36576" marB="36576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2E8F0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00D4AA"/>
                          </a:solidFill>
                          <a:latin typeface="Inter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0B2A2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5669280"/>
            <a:ext cx="9997135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Scale 0-10  ·  Green &gt;=8 (leader)  ·  Blue &gt;=5 (competent)  ·  Grey &gt;=3 (partial)  ·  No color &lt;3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6035040"/>
            <a:ext cx="9997135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FAFB"/>
                </a:solidFill>
                <a:latin typeface="Inter"/>
              </a:rPr>
              <a:t>5 differentiators: Content-first  ·  Non-bypassable enforcement  ·  Risk lifecycle  ·  Cross-IDE day one  ·  Ownership model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548640"/>
            <a:ext cx="9997135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85800"/>
            <a:ext cx="9997135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JetBrains Mono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9997135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0D4AA"/>
                </a:solidFill>
                <a:latin typeface="JetBrains Mono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99971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2E8F0"/>
                </a:solidFill>
                <a:latin typeface="Inter"/>
              </a:rPr>
              <a:t>Approve ai-engineering as the governance standard for AI-assisted development.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46888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AFB"/>
                </a:solidFill>
                <a:latin typeface="Inter"/>
              </a:rPr>
              <a:t>→  2-3 repositories next quarter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761488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AFB"/>
                </a:solidFill>
                <a:latin typeface="Inter"/>
              </a:rPr>
              <a:t>→  Metrics: gate execution, time to governed commit,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054096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AFB"/>
                </a:solidFill>
                <a:latin typeface="Inter"/>
              </a:rPr>
              <a:t>     security catch rate, decision reuse rate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840480"/>
            <a:ext cx="4114800" cy="502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3840480"/>
            <a:ext cx="38404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B1120"/>
                </a:solidFill>
                <a:latin typeface="Inter"/>
              </a:rPr>
              <a:t>Phase 1 — 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3840480"/>
            <a:ext cx="54864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AFB"/>
                </a:solidFill>
                <a:latin typeface="Inter"/>
              </a:rPr>
              <a:t>GitHub + Python + Claude/Copilot/Codex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4480560"/>
            <a:ext cx="3200400" cy="5029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4480560"/>
            <a:ext cx="29260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B1120"/>
                </a:solidFill>
                <a:latin typeface="Inter"/>
              </a:rPr>
              <a:t>Phase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4480560"/>
            <a:ext cx="54864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AFB"/>
                </a:solidFill>
                <a:latin typeface="Inter"/>
              </a:rPr>
              <a:t>Azure DevOps + more stacks + signature verification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5120640"/>
            <a:ext cx="2560320" cy="5029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5120640"/>
            <a:ext cx="2286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B1120"/>
                </a:solidFill>
                <a:latin typeface="Inter"/>
              </a:rPr>
              <a:t>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5120640"/>
            <a:ext cx="54864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AFB"/>
                </a:solidFill>
                <a:latin typeface="Inter"/>
              </a:rPr>
              <a:t>Multi-agent orchestration + docs site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5577840"/>
            <a:ext cx="9997135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577840"/>
            <a:ext cx="9997135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8FAFB"/>
                </a:solidFill>
                <a:latin typeface="Inter"/>
              </a:rPr>
              <a:t>Investment: $0 licenses (MIT)  ·  Tooling: Python + git hooks  ·  Framework ready to install today.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00800"/>
            <a:ext cx="12191695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